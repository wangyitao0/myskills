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7"/>
    <p:sldId id="257" r:id="rId6"/>
    <p:sldId id="258" r:id="rId5"/>
    <p:sldId id="259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27820-B03C-435F-9827-65C866EC7EBE}" v="1" dt="2026-02-25T03:10:5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ang Yi Tao (CN.MS-PIE) 王逸韬" userId="f2478d3e-731c-412b-9573-d7d8a124d225" providerId="ADAL" clId="{494E8C11-4D4E-4C2B-A295-50700AB3EC1D}"/>
    <pc:docChg chg="modSld delMainMaster">
      <pc:chgData name="David Wang Yi Tao (CN.MS-PIE) 王逸韬" userId="f2478d3e-731c-412b-9573-d7d8a124d225" providerId="ADAL" clId="{494E8C11-4D4E-4C2B-A295-50700AB3EC1D}" dt="2026-02-25T03:10:53.856" v="1"/>
      <pc:docMkLst>
        <pc:docMk/>
      </pc:docMkLst>
      <pc:sldChg chg="modSp">
        <pc:chgData name="David Wang Yi Tao (CN.MS-PIE) 王逸韬" userId="f2478d3e-731c-412b-9573-d7d8a124d225" providerId="ADAL" clId="{494E8C11-4D4E-4C2B-A295-50700AB3EC1D}" dt="2026-02-25T03:10:53.856" v="1"/>
        <pc:sldMkLst>
          <pc:docMk/>
          <pc:sldMk cId="3620478631" sldId="7834"/>
        </pc:sldMkLst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2" creationId="{E229DF9C-D0AF-BD29-290D-2CFFC1707D59}"/>
          </ac:spMkLst>
        </pc:spChg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4" creationId="{14A5351C-6542-F056-BBE4-0BADA95563B9}"/>
          </ac:spMkLst>
        </pc:spChg>
      </pc:sldChg>
      <pc:sldMasterChg chg="del">
        <pc:chgData name="David Wang Yi Tao (CN.MS-PIE) 王逸韬" userId="f2478d3e-731c-412b-9573-d7d8a124d225" providerId="ADAL" clId="{494E8C11-4D4E-4C2B-A295-50700AB3EC1D}" dt="2026-02-25T03:10:51.365" v="0" actId="2696"/>
        <pc:sldMasterMkLst>
          <pc:docMk/>
          <pc:sldMasterMk cId="837834762" sldId="2147483695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E1F36-0BB3-4986-B8DB-265880AD27D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B73A-935A-4257-9CC0-0C7A9083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DB0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636506" y="1995489"/>
            <a:ext cx="184731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667" dirty="0">
              <a:solidFill>
                <a:srgbClr val="000000"/>
              </a:solidFill>
            </a:endParaRP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133600" y="1374776"/>
            <a:ext cx="7721600" cy="2625725"/>
            <a:chOff x="576" y="986"/>
            <a:chExt cx="4608" cy="1654"/>
          </a:xfrm>
        </p:grpSpPr>
        <p:sp>
          <p:nvSpPr>
            <p:cNvPr id="7" name="Line 7"/>
            <p:cNvSpPr>
              <a:spLocks noChangeShapeType="1"/>
            </p:cNvSpPr>
            <p:nvPr userDrawn="1"/>
          </p:nvSpPr>
          <p:spPr bwMode="auto">
            <a:xfrm>
              <a:off x="576" y="2640"/>
              <a:ext cx="46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dirty="0">
                <a:solidFill>
                  <a:srgbClr val="000000"/>
                </a:solidFill>
              </a:endParaRPr>
            </a:p>
          </p:txBody>
        </p:sp>
        <p:pic>
          <p:nvPicPr>
            <p:cNvPr id="8" name="Picture 8" descr="NBHD and Logo_stacked_alt"/>
            <p:cNvPicPr>
              <a:picLocks noChangeAspect="1" noChangeArrowheads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" y="986"/>
              <a:ext cx="3744" cy="1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80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4419600"/>
            <a:ext cx="10363200" cy="457200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defRPr sz="2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4953000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</p:spTree>
    <p:extLst>
      <p:ext uri="{BB962C8B-B14F-4D97-AF65-F5344CB8AC3E}">
        <p14:creationId xmlns:p14="http://schemas.microsoft.com/office/powerpoint/2010/main" val="3298321180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08000" y="1295400"/>
            <a:ext cx="11379200" cy="5257800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E31937"/>
              </a:buClr>
              <a:buFont typeface="Wingdings" panose="05000000000000000000" pitchFamily="2" charset="2"/>
              <a:buChar char="§"/>
              <a:defRPr sz="3200" b="1">
                <a:latin typeface="+mn-lt"/>
              </a:defRPr>
            </a:lvl1pPr>
            <a:lvl2pPr marL="990575" indent="-380990">
              <a:buClr>
                <a:srgbClr val="E31937"/>
              </a:buClr>
              <a:buFont typeface="Wingdings" panose="05000000000000000000" pitchFamily="2" charset="2"/>
              <a:buChar char="§"/>
              <a:defRPr sz="2667">
                <a:latin typeface="+mn-lt"/>
              </a:defRPr>
            </a:lvl2pPr>
            <a:lvl3pPr marL="1523962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2400">
                <a:latin typeface="+mn-lt"/>
              </a:defRPr>
            </a:lvl3pPr>
            <a:lvl4pPr marL="2133547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4pPr>
            <a:lvl5pPr marL="2743131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Secondary Title</a:t>
            </a:r>
          </a:p>
          <a:p>
            <a:pPr lvl="4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824030123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 /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21" name="Before Frame"/>
          <p:cNvSpPr txBox="1">
            <a:spLocks noGrp="1"/>
          </p:cNvSpPr>
          <p:nvPr/>
        </p:nvSpPr>
        <p:spPr>
          <a:xfrm>
            <a:off x="512064" y="2331720"/>
            <a:ext cx="5349240" cy="3081528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2" name="After Frame"/>
          <p:cNvSpPr txBox="1">
            <a:spLocks noGrp="1"/>
          </p:cNvSpPr>
          <p:nvPr/>
        </p:nvSpPr>
        <p:spPr>
          <a:xfrm>
            <a:off x="6327648" y="2331720"/>
            <a:ext cx="534924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3" name="Conversion"/>
          <p:cNvSpPr txBox="1">
            <a:spLocks noGrp="1"/>
          </p:cNvSpPr>
          <p:nvPr/>
        </p:nvSpPr>
        <p:spPr>
          <a:xfrm>
            <a:off x="5879592" y="3584448"/>
            <a:ext cx="429768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0" rIns="0" tIns="0" bIns="0">
            <a:noAutofit/>
          </a:bodyPr>
          <a:lstStyle>
            <a:lvl1pPr marL="0" indent="0" algn="ctr">
              <a:buNone/>
              <a:defRPr sz="2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400" b="0">
                <a:solidFill>
                  <a:srgbClr val="6B6B6B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25" name="Before Title"/>
          <p:cNvSpPr txBox="1">
            <a:spLocks noGrp="1"/>
          </p:cNvSpPr>
          <p:nvPr>
            <p:ph type="body" idx="11" hasCustomPrompt="1"/>
          </p:nvPr>
        </p:nvSpPr>
        <p:spPr>
          <a:xfrm>
            <a:off x="1860804" y="1792224"/>
            <a:ext cx="2651760" cy="393192"/>
          </a:xfrm>
          <a:prstGeom prst="rect">
            <a:avLst/>
          </a:prstGeom>
          <a:solidFill>
            <a:srgbClr val="333333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BEFORE</a:t>
            </a:r>
          </a:p>
        </p:txBody>
      </p:sp>
      <p:sp>
        <p:nvSpPr>
          <p:cNvPr id="26" name="After Title"/>
          <p:cNvSpPr txBox="1">
            <a:spLocks noGrp="1"/>
          </p:cNvSpPr>
          <p:nvPr>
            <p:ph type="body" idx="12" hasCustomPrompt="1"/>
          </p:nvPr>
        </p:nvSpPr>
        <p:spPr>
          <a:xfrm>
            <a:off x="7676388" y="1792224"/>
            <a:ext cx="2651760" cy="393192"/>
          </a:xfrm>
          <a:prstGeom prst="rect">
            <a:avLst/>
          </a:prstGeom>
          <a:solidFill>
            <a:srgbClr val="DB011C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AFTER</a:t>
            </a:r>
          </a:p>
        </p:txBody>
      </p:sp>
      <p:sp>
        <p:nvSpPr>
          <p:cNvPr id="27" name="Before Content"/>
          <p:cNvSpPr txBox="1">
            <a:spLocks noGrp="1"/>
          </p:cNvSpPr>
          <p:nvPr>
            <p:ph type="body" idx="13" hasCustomPrompt="1"/>
          </p:nvPr>
        </p:nvSpPr>
        <p:spPr>
          <a:xfrm>
            <a:off x="713232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改前工作方式</a:t>
            </a:r>
          </a:p>
        </p:txBody>
      </p:sp>
      <p:sp>
        <p:nvSpPr>
          <p:cNvPr id="28" name="After Content"/>
          <p:cNvSpPr txBox="1">
            <a:spLocks noGrp="1"/>
          </p:cNvSpPr>
          <p:nvPr>
            <p:ph type="body" idx="14" hasCustomPrompt="1"/>
          </p:nvPr>
        </p:nvSpPr>
        <p:spPr>
          <a:xfrm>
            <a:off x="6528816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改后工作方式</a:t>
            </a:r>
          </a:p>
        </p:txBody>
      </p:sp>
      <p:sp>
        <p:nvSpPr>
          <p:cNvPr id="29" name="Before Caption"/>
          <p:cNvSpPr txBox="1">
            <a:spLocks noGrp="1"/>
          </p:cNvSpPr>
          <p:nvPr>
            <p:ph type="body" idx="15" hasCustomPrompt="1"/>
          </p:nvPr>
        </p:nvSpPr>
        <p:spPr>
          <a:xfrm>
            <a:off x="512064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  <p:sp>
        <p:nvSpPr>
          <p:cNvPr id="30" name="After Caption"/>
          <p:cNvSpPr txBox="1">
            <a:spLocks noGrp="1"/>
          </p:cNvSpPr>
          <p:nvPr>
            <p:ph type="body" idx="16" hasCustomPrompt="1"/>
          </p:nvPr>
        </p:nvSpPr>
        <p:spPr>
          <a:xfrm>
            <a:off x="6327648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Process Area"/>
          <p:cNvSpPr>
            <a:spLocks noGrp="1"/>
          </p:cNvSpPr>
          <p:nvPr>
            <p:ph type="body" sz="quarter" idx="17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流程区：生成器按步骤数（3–5）等分绘制卡片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Stats Area"/>
          <p:cNvSpPr>
            <a:spLocks noGrp="1"/>
          </p:cNvSpPr>
          <p:nvPr>
            <p:ph type="body" sz="quarter" idx="18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数据区：生成器按条目数（2–4）等分绘制数据卡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Timeline Area"/>
          <p:cNvSpPr>
            <a:spLocks noGrp="1"/>
          </p:cNvSpPr>
          <p:nvPr>
            <p:ph type="body" sz="quarter" idx="19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时间线区：生成器按节点数（3–6）等距绘制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Image Frame"/>
          <p:cNvSpPr>
            <a:spLocks noGrp="1"/>
          </p:cNvSpPr>
          <p:nvPr>
            <p:ph type="body" sz="quarter" idx="20" hasCustomPrompt="1"/>
          </p:nvPr>
        </p:nvSpPr>
        <p:spPr>
          <a:xfrm>
            <a:off x="512064" y="1188720"/>
            <a:ext cx="6986016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图框（16:9）：图片等比缩放、居中，不裁切</a:t>
            </a:r>
          </a:p>
        </p:txBody>
      </p:sp>
      <p:sp>
        <p:nvSpPr>
          <p:cNvPr id="9" name="Text Area"/>
          <p:cNvSpPr>
            <a:spLocks noGrp="1"/>
          </p:cNvSpPr>
          <p:nvPr>
            <p:ph type="body" sz="quarter" idx="21" hasCustomPrompt="1"/>
          </p:nvPr>
        </p:nvSpPr>
        <p:spPr>
          <a:xfrm>
            <a:off x="7772400" y="1188720"/>
            <a:ext cx="3904488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228600" indent="-22860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rgbClr val="6B6B6B"/>
              </a:buClr>
              <a:buSzPct val="100000"/>
              <a:buFont typeface="Arial"/>
              <a:buChar char="•"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要点（建议不超过 5 条）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1"/>
            <a:ext cx="12192000" cy="914400"/>
          </a:xfrm>
          <a:prstGeom prst="rect">
            <a:avLst/>
          </a:prstGeom>
          <a:solidFill>
            <a:srgbClr val="DB011C"/>
          </a:solidFill>
          <a:ln w="9525">
            <a:noFill/>
            <a:miter lim="800000"/>
            <a:headEnd/>
            <a:tailEnd/>
          </a:ln>
          <a:effectLst>
            <a:outerShdw blurRad="63500" dist="26940" dir="5400000" algn="ctr" rotWithShape="0">
              <a:schemeClr val="bg2">
                <a:alpha val="75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199"/>
            <a:ext cx="1676400" cy="7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9" r:id="rId6"/>
    <p:sldLayoutId id="2147483690" r:id="rId7"/>
    <p:sldLayoutId id="2147483691" r:id="rId8"/>
    <p:sldLayoutId id="2147483692" r:id="rId9"/>
    <p:sldLayoutId id="2147483693" r:id="rId10"/>
  </p:sldLayoutIdLst>
  <p:transition>
    <p:fade thruBlk="1"/>
  </p:transition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rgbClr val="F3F3F3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609585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6pPr>
      <a:lvl7pPr marL="1219170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7pPr>
      <a:lvl8pPr marL="1828754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8pPr>
      <a:lvl9pPr marL="2438339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rgbClr val="C2112D"/>
        </a:buClr>
        <a:buSzPct val="120000"/>
        <a:buFont typeface="Wingdings" charset="2"/>
        <a:buChar char="§"/>
        <a:defRPr sz="3733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32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rgbClr val="E31937"/>
        </a:buClr>
        <a:buSzPct val="120000"/>
        <a:buFont typeface="Wingdings" charset="2"/>
        <a:buChar char="§"/>
        <a:defRPr sz="2667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来料检验记录电子化 项目汇报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r>
              <a:t>A 车间 8 周试点复盘 · 虚构示例数据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纸质记录需二次录入，批次结论依赖人工查找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 / BACKGROUND</a:t>
            </a:r>
          </a:p>
        </p:txBody>
      </p:sp>
      <p:sp>
        <p:nvSpPr>
          <p:cNvPr id="4" name="Process Card 1"/>
          <p:cNvSpPr/>
          <p:nvPr/>
        </p:nvSpPr>
        <p:spPr>
          <a:xfrm>
            <a:off x="512064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纸质记录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检验结果填写在纸质检验单</a:t>
            </a:r>
          </a:p>
        </p:txBody>
      </p:sp>
      <p:sp>
        <p:nvSpPr>
          <p:cNvPr id="5" name="Process Number 1"/>
          <p:cNvSpPr/>
          <p:nvPr/>
        </p:nvSpPr>
        <p:spPr>
          <a:xfrm>
            <a:off x="694944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1</a:t>
            </a:r>
          </a:p>
        </p:txBody>
      </p:sp>
      <p:sp>
        <p:nvSpPr>
          <p:cNvPr id="6" name="Process Card 2"/>
          <p:cNvSpPr/>
          <p:nvPr/>
        </p:nvSpPr>
        <p:spPr>
          <a:xfrm>
            <a:off x="3371850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下班录入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检验员每天下班前录入 Excel</a:t>
            </a:r>
          </a:p>
        </p:txBody>
      </p:sp>
      <p:sp>
        <p:nvSpPr>
          <p:cNvPr id="7" name="Process Number 2"/>
          <p:cNvSpPr/>
          <p:nvPr/>
        </p:nvSpPr>
        <p:spPr>
          <a:xfrm>
            <a:off x="3554730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2</a:t>
            </a:r>
          </a:p>
        </p:txBody>
      </p:sp>
      <p:sp>
        <p:nvSpPr>
          <p:cNvPr id="8" name="Process Card 3"/>
          <p:cNvSpPr/>
          <p:nvPr/>
        </p:nvSpPr>
        <p:spPr>
          <a:xfrm>
            <a:off x="6231636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周五汇总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每周五手工整理供应商质量周报</a:t>
            </a:r>
          </a:p>
        </p:txBody>
      </p:sp>
      <p:sp>
        <p:nvSpPr>
          <p:cNvPr id="9" name="Process Number 3"/>
          <p:cNvSpPr/>
          <p:nvPr/>
        </p:nvSpPr>
        <p:spPr>
          <a:xfrm>
            <a:off x="6414516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3</a:t>
            </a:r>
          </a:p>
        </p:txBody>
      </p:sp>
      <p:sp>
        <p:nvSpPr>
          <p:cNvPr id="10" name="Process Card 4"/>
          <p:cNvSpPr/>
          <p:nvPr/>
        </p:nvSpPr>
        <p:spPr>
          <a:xfrm>
            <a:off x="9091422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批次查询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供应商问询时翻找纸质检验单</a:t>
            </a:r>
          </a:p>
        </p:txBody>
      </p:sp>
      <p:sp>
        <p:nvSpPr>
          <p:cNvPr id="11" name="Process Number 4"/>
          <p:cNvSpPr/>
          <p:nvPr/>
        </p:nvSpPr>
        <p:spPr>
          <a:xfrm>
            <a:off x="9274302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4</a:t>
            </a:r>
          </a:p>
        </p:txBody>
      </p:sp>
      <p:sp>
        <p:nvSpPr>
          <p:cNvPr id="12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原流程包含纸质记录、二次录入、周度汇总和人工查询四个环节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检验结果一次录入，提交后直接形成电子记录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项目目标 / TARGET</a:t>
            </a:r>
          </a:p>
        </p:txBody>
      </p:sp>
      <p:sp>
        <p:nvSpPr>
          <p:cNvPr id="4" name="Process Card 1"/>
          <p:cNvSpPr/>
          <p:nvPr/>
        </p:nvSpPr>
        <p:spPr>
          <a:xfrm>
            <a:off x="512064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平板填写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检验员现场填写电子检验单</a:t>
            </a:r>
          </a:p>
        </p:txBody>
      </p:sp>
      <p:sp>
        <p:nvSpPr>
          <p:cNvPr id="5" name="Process Number 1"/>
          <p:cNvSpPr/>
          <p:nvPr/>
        </p:nvSpPr>
        <p:spPr>
          <a:xfrm>
            <a:off x="694944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1</a:t>
            </a:r>
          </a:p>
        </p:txBody>
      </p:sp>
      <p:sp>
        <p:nvSpPr>
          <p:cNvPr id="6" name="Process Card 2"/>
          <p:cNvSpPr/>
          <p:nvPr/>
        </p:nvSpPr>
        <p:spPr>
          <a:xfrm>
            <a:off x="3371850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照片上传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不良品照片随检验记录提交</a:t>
            </a:r>
          </a:p>
        </p:txBody>
      </p:sp>
      <p:sp>
        <p:nvSpPr>
          <p:cNvPr id="7" name="Process Number 2"/>
          <p:cNvSpPr/>
          <p:nvPr/>
        </p:nvSpPr>
        <p:spPr>
          <a:xfrm>
            <a:off x="3554730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2</a:t>
            </a:r>
          </a:p>
        </p:txBody>
      </p:sp>
      <p:sp>
        <p:nvSpPr>
          <p:cNvPr id="8" name="Process Card 3"/>
          <p:cNvSpPr/>
          <p:nvPr/>
        </p:nvSpPr>
        <p:spPr>
          <a:xfrm>
            <a:off x="6231636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提交入库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电子检验单提交后直接入库</a:t>
            </a:r>
          </a:p>
        </p:txBody>
      </p:sp>
      <p:sp>
        <p:nvSpPr>
          <p:cNvPr id="9" name="Process Number 3"/>
          <p:cNvSpPr/>
          <p:nvPr/>
        </p:nvSpPr>
        <p:spPr>
          <a:xfrm>
            <a:off x="6414516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3</a:t>
            </a:r>
          </a:p>
        </p:txBody>
      </p:sp>
      <p:sp>
        <p:nvSpPr>
          <p:cNvPr id="10" name="Process Card 4"/>
          <p:cNvSpPr/>
          <p:nvPr/>
        </p:nvSpPr>
        <p:spPr>
          <a:xfrm>
            <a:off x="9091422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周报生成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系统按周自动生成供应商质量周报</a:t>
            </a:r>
          </a:p>
        </p:txBody>
      </p:sp>
      <p:sp>
        <p:nvSpPr>
          <p:cNvPr id="11" name="Process Number 4"/>
          <p:cNvSpPr/>
          <p:nvPr/>
        </p:nvSpPr>
        <p:spPr>
          <a:xfrm>
            <a:off x="9274302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4</a:t>
            </a:r>
          </a:p>
        </p:txBody>
      </p:sp>
      <p:sp>
        <p:nvSpPr>
          <p:cNvPr id="12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新流程将检验记录、照片和周报数据保存在同一电子流程中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 车间检验员于 5 月全部切换电子检验单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应用场景 / USE CASES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纸质检验单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电子检验单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xfrm>
            <a:off x="713232" y="2542032"/>
            <a:ext cx="4946904" cy="2121408"/>
          </a:xfrm>
        </p:spPr>
        <p:txBody>
          <a:bodyPr wrap="square"/>
          <a:lstStyle/>
          <a:p>
            <a:r>
              <a:t>检验员填写纸质检验单，下班前再录入 Excel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>
          <a:xfrm>
            <a:off x="6528816" y="2542032"/>
            <a:ext cx="4946904" cy="2121408"/>
          </a:xfrm>
        </p:spPr>
        <p:txBody>
          <a:bodyPr wrap="square"/>
          <a:lstStyle/>
          <a:p>
            <a:r>
              <a:t>检验员用平板填写，提交后检验记录直接入库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>
          <a:xfrm>
            <a:off x="713232" y="4754880"/>
            <a:ext cx="4946904" cy="320040"/>
          </a:xfrm>
        </p:spPr>
        <p:txBody>
          <a:bodyPr/>
          <a:lstStyle/>
          <a:p>
            <a:r>
              <a:t>检验结果经过纸质记录和 Excel 二次录入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/>
          </p:nvPr>
        </p:nvSpPr>
        <p:spPr>
          <a:xfrm>
            <a:off x="6528816" y="4754880"/>
            <a:ext cx="4946904" cy="320040"/>
          </a:xfrm>
        </p:spPr>
        <p:txBody>
          <a:bodyPr/>
          <a:lstStyle/>
          <a:p>
            <a:r>
              <a:t>检验结果一次填写并形成电子记录</a:t>
            </a:r>
          </a:p>
        </p:txBody>
      </p:sp>
      <p:sp>
        <p:nvSpPr>
          <p:cNvPr id="10" name="Lead"/>
          <p:cNvSpPr txBox="1"/>
          <p:nvPr/>
        </p:nvSpPr>
        <p:spPr>
          <a:xfrm>
            <a:off x="512064" y="1188720"/>
            <a:ext cx="10881360" cy="384048"/>
          </a:xfrm>
          <a:prstGeom prst="rect">
            <a:avLst/>
          </a:prstGeom>
          <a:noFill/>
        </p:spPr>
        <p:txBody>
          <a:bodyPr wrap="none" anchor="ctr" lIns="54864" rIns="54864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A 车间来料检验记录采用相同业务范围进行改前改后对比</a:t>
            </a:r>
          </a:p>
        </p:txBody>
      </p:sp>
      <p:sp>
        <p:nvSpPr>
          <p:cNvPr id="11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A 车间全部检验员已切换为平板填写电子检验单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3 月立项，6 月完成 8 周试点复盘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项目节点 / MILESTONE</a:t>
            </a:r>
          </a:p>
        </p:txBody>
      </p:sp>
      <p:sp>
        <p:nvSpPr>
          <p:cNvPr id="4" name="Legend Icon 1"/>
          <p:cNvSpPr/>
          <p:nvPr/>
        </p:nvSpPr>
        <p:spPr>
          <a:xfrm>
            <a:off x="7266432" y="1216152"/>
            <a:ext cx="182880" cy="18288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gend Check 1"/>
          <p:cNvSpPr/>
          <p:nvPr/>
        </p:nvSpPr>
        <p:spPr>
          <a:xfrm>
            <a:off x="7310324" y="1271016"/>
            <a:ext cx="98754" cy="73152"/>
          </a:xfrm>
          <a:custGeom>
            <a:avLst/>
            <a:gdLst/>
            <a:ahLst/>
            <a:cxnLst/>
            <a:rect l="l" t="t" r="r" b="b"/>
            <a:pathLst>
              <a:path w="98754" h="73152">
                <a:moveTo>
                  <a:pt x="0" y="36576"/>
                </a:moveTo>
                <a:lnTo>
                  <a:pt x="34747" y="73152"/>
                </a:lnTo>
                <a:lnTo>
                  <a:pt x="98754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gend Label 1"/>
          <p:cNvSpPr txBox="1"/>
          <p:nvPr/>
        </p:nvSpPr>
        <p:spPr>
          <a:xfrm>
            <a:off x="753160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已完成</a:t>
            </a:r>
          </a:p>
        </p:txBody>
      </p:sp>
      <p:sp>
        <p:nvSpPr>
          <p:cNvPr id="7" name="Legend Icon 2"/>
          <p:cNvSpPr/>
          <p:nvPr/>
        </p:nvSpPr>
        <p:spPr>
          <a:xfrm>
            <a:off x="8363712" y="1216152"/>
            <a:ext cx="182880" cy="182880"/>
          </a:xfrm>
          <a:prstGeom prst="ellipse">
            <a:avLst/>
          </a:prstGeom>
          <a:solidFill>
            <a:srgbClr val="F2A90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egend Label 2"/>
          <p:cNvSpPr txBox="1"/>
          <p:nvPr/>
        </p:nvSpPr>
        <p:spPr>
          <a:xfrm>
            <a:off x="862888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进行中</a:t>
            </a:r>
          </a:p>
        </p:txBody>
      </p:sp>
      <p:sp>
        <p:nvSpPr>
          <p:cNvPr id="9" name="Legend Icon 3"/>
          <p:cNvSpPr/>
          <p:nvPr/>
        </p:nvSpPr>
        <p:spPr>
          <a:xfrm>
            <a:off x="9460992" y="1216152"/>
            <a:ext cx="182880" cy="182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B011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egend Label 3"/>
          <p:cNvSpPr txBox="1"/>
          <p:nvPr/>
        </p:nvSpPr>
        <p:spPr>
          <a:xfrm>
            <a:off x="972616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未完成</a:t>
            </a:r>
          </a:p>
        </p:txBody>
      </p:sp>
      <p:sp>
        <p:nvSpPr>
          <p:cNvPr id="11" name="Legend Icon 4"/>
          <p:cNvSpPr/>
          <p:nvPr/>
        </p:nvSpPr>
        <p:spPr>
          <a:xfrm>
            <a:off x="10530840" y="1188720"/>
            <a:ext cx="237744" cy="237744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egend Label 4"/>
          <p:cNvSpPr txBox="1"/>
          <p:nvPr/>
        </p:nvSpPr>
        <p:spPr>
          <a:xfrm>
            <a:off x="10823448" y="1188720"/>
            <a:ext cx="8534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关键里程碑</a:t>
            </a:r>
          </a:p>
        </p:txBody>
      </p:sp>
      <p:cxnSp>
        <p:nvCxnSpPr>
          <p:cNvPr id="13" name="Progress Line"/>
          <p:cNvCxnSpPr/>
          <p:nvPr/>
        </p:nvCxnSpPr>
        <p:spPr>
          <a:xfrm>
            <a:off x="1804797" y="3246120"/>
            <a:ext cx="8579358" cy="0"/>
          </a:xfrm>
          <a:prstGeom prst="line">
            <a:avLst/>
          </a:prstGeom>
          <a:ln w="50800">
            <a:solidFill>
              <a:srgbClr val="2E7D32"/>
            </a:solidFill>
          </a:ln>
          <a:effectLst/>
        </p:spPr>
      </p:cxnSp>
      <p:sp>
        <p:nvSpPr>
          <p:cNvPr id="14" name="Milestone Node 1"/>
          <p:cNvSpPr/>
          <p:nvPr/>
        </p:nvSpPr>
        <p:spPr>
          <a:xfrm>
            <a:off x="1658493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ilestone Check 1"/>
          <p:cNvSpPr/>
          <p:nvPr/>
        </p:nvSpPr>
        <p:spPr>
          <a:xfrm>
            <a:off x="1728719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ilestone Node 2"/>
          <p:cNvSpPr/>
          <p:nvPr/>
        </p:nvSpPr>
        <p:spPr>
          <a:xfrm>
            <a:off x="4518279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ilestone Check 2"/>
          <p:cNvSpPr/>
          <p:nvPr/>
        </p:nvSpPr>
        <p:spPr>
          <a:xfrm>
            <a:off x="4588505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ilestone Node 3"/>
          <p:cNvSpPr/>
          <p:nvPr/>
        </p:nvSpPr>
        <p:spPr>
          <a:xfrm>
            <a:off x="7304913" y="3026664"/>
            <a:ext cx="438912" cy="438912"/>
          </a:xfrm>
          <a:prstGeom prst="diamond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ilestone Check 3"/>
          <p:cNvSpPr/>
          <p:nvPr/>
        </p:nvSpPr>
        <p:spPr>
          <a:xfrm>
            <a:off x="7438782" y="3180284"/>
            <a:ext cx="177758" cy="131672"/>
          </a:xfrm>
          <a:custGeom>
            <a:avLst/>
            <a:gdLst/>
            <a:ahLst/>
            <a:cxnLst/>
            <a:rect l="l" t="t" r="r" b="b"/>
            <a:pathLst>
              <a:path w="177758" h="131672">
                <a:moveTo>
                  <a:pt x="0" y="65836"/>
                </a:moveTo>
                <a:lnTo>
                  <a:pt x="62545" y="131672"/>
                </a:lnTo>
                <a:lnTo>
                  <a:pt x="17775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ilestone Node 4"/>
          <p:cNvSpPr/>
          <p:nvPr/>
        </p:nvSpPr>
        <p:spPr>
          <a:xfrm>
            <a:off x="10237851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ilestone Check 4"/>
          <p:cNvSpPr/>
          <p:nvPr/>
        </p:nvSpPr>
        <p:spPr>
          <a:xfrm>
            <a:off x="10308077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ilestone Date 1"/>
          <p:cNvSpPr txBox="1"/>
          <p:nvPr/>
        </p:nvSpPr>
        <p:spPr>
          <a:xfrm>
            <a:off x="512064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Mar</a:t>
            </a:r>
          </a:p>
        </p:txBody>
      </p:sp>
      <p:sp>
        <p:nvSpPr>
          <p:cNvPr id="23" name="Milestone Date 2"/>
          <p:cNvSpPr txBox="1"/>
          <p:nvPr/>
        </p:nvSpPr>
        <p:spPr>
          <a:xfrm>
            <a:off x="3371850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Apr</a:t>
            </a:r>
          </a:p>
        </p:txBody>
      </p:sp>
      <p:sp>
        <p:nvSpPr>
          <p:cNvPr id="24" name="Milestone Date 3"/>
          <p:cNvSpPr txBox="1"/>
          <p:nvPr/>
        </p:nvSpPr>
        <p:spPr>
          <a:xfrm>
            <a:off x="6231636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May</a:t>
            </a:r>
          </a:p>
        </p:txBody>
      </p:sp>
      <p:sp>
        <p:nvSpPr>
          <p:cNvPr id="25" name="Milestone Date 4"/>
          <p:cNvSpPr txBox="1"/>
          <p:nvPr/>
        </p:nvSpPr>
        <p:spPr>
          <a:xfrm>
            <a:off x="9091422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Jun</a:t>
            </a:r>
          </a:p>
        </p:txBody>
      </p:sp>
      <p:sp>
        <p:nvSpPr>
          <p:cNvPr id="26" name="Milestone Text 1"/>
          <p:cNvSpPr txBox="1"/>
          <p:nvPr/>
        </p:nvSpPr>
        <p:spPr>
          <a:xfrm>
            <a:off x="512064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项目立项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确定 A 车间试点</a:t>
            </a:r>
          </a:p>
        </p:txBody>
      </p:sp>
      <p:sp>
        <p:nvSpPr>
          <p:cNvPr id="27" name="Milestone Text 2"/>
          <p:cNvSpPr txBox="1"/>
          <p:nvPr/>
        </p:nvSpPr>
        <p:spPr>
          <a:xfrm>
            <a:off x="3371850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上线试用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电子检验单开放试用</a:t>
            </a:r>
          </a:p>
        </p:txBody>
      </p:sp>
      <p:sp>
        <p:nvSpPr>
          <p:cNvPr id="28" name="Milestone Text 3"/>
          <p:cNvSpPr txBox="1"/>
          <p:nvPr/>
        </p:nvSpPr>
        <p:spPr>
          <a:xfrm>
            <a:off x="6231636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全员切换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A 车间全部检验员切换</a:t>
            </a:r>
          </a:p>
        </p:txBody>
      </p:sp>
      <p:sp>
        <p:nvSpPr>
          <p:cNvPr id="29" name="Milestone Text 4"/>
          <p:cNvSpPr txBox="1"/>
          <p:nvPr/>
        </p:nvSpPr>
        <p:spPr>
          <a:xfrm>
            <a:off x="9091422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试点复盘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完成 8 周数据复盘</a:t>
            </a:r>
          </a:p>
        </p:txBody>
      </p:sp>
      <p:sp>
        <p:nvSpPr>
          <p:cNvPr id="30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项目从 3 月立项推进至 6 月完成 8 周试点复盘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8 周完成 2,360 张电子检验单，录入降至约 1.5 分钟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行动与成果 / OUTCOMES</a:t>
            </a:r>
          </a:p>
        </p:txBody>
      </p:sp>
      <p:sp>
        <p:nvSpPr>
          <p:cNvPr id="4" name="Stat Rule 1"/>
          <p:cNvSpPr/>
          <p:nvPr/>
        </p:nvSpPr>
        <p:spPr>
          <a:xfrm>
            <a:off x="512064" y="1188720"/>
            <a:ext cx="3447288" cy="54864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tat Label 1"/>
          <p:cNvSpPr txBox="1"/>
          <p:nvPr/>
        </p:nvSpPr>
        <p:spPr>
          <a:xfrm>
            <a:off x="512064" y="1417320"/>
            <a:ext cx="3447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电子检验单</a:t>
            </a:r>
          </a:p>
        </p:txBody>
      </p:sp>
      <p:sp>
        <p:nvSpPr>
          <p:cNvPr id="6" name="Stat Number 1"/>
          <p:cNvSpPr txBox="1"/>
          <p:nvPr/>
        </p:nvSpPr>
        <p:spPr>
          <a:xfrm>
            <a:off x="512064" y="1691640"/>
            <a:ext cx="3447288" cy="9144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6000" b="1">
                <a:solidFill>
                  <a:srgbClr val="DB011C"/>
                </a:solidFill>
                <a:latin typeface="Arial"/>
                <a:ea typeface="PingFang SC"/>
              </a:rPr>
              <a:t>2,360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张</a:t>
            </a:r>
          </a:p>
        </p:txBody>
      </p:sp>
      <p:sp>
        <p:nvSpPr>
          <p:cNvPr id="7" name="Stat Note 1"/>
          <p:cNvSpPr txBox="1"/>
          <p:nvPr/>
        </p:nvSpPr>
        <p:spPr>
          <a:xfrm>
            <a:off x="512064" y="2670048"/>
            <a:ext cx="3447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试点期间检验单全部电子化</a:t>
            </a:r>
          </a:p>
        </p:txBody>
      </p:sp>
      <p:cxnSp>
        <p:nvCxnSpPr>
          <p:cNvPr id="8" name="Stat Divider 1"/>
          <p:cNvCxnSpPr/>
          <p:nvPr/>
        </p:nvCxnSpPr>
        <p:spPr>
          <a:xfrm>
            <a:off x="512064" y="3127248"/>
            <a:ext cx="3447288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9" name="Stat Points 1"/>
          <p:cNvSpPr txBox="1"/>
          <p:nvPr/>
        </p:nvSpPr>
        <p:spPr>
          <a:xfrm>
            <a:off x="512064" y="3291840"/>
            <a:ext cx="3447288" cy="1481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8919" indent="-248919"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  <a:ea typeface="PingFang SC"/>
              </a:rPr>
              <a:t>检验记录提交后直接入库</a:t>
            </a:r>
          </a:p>
        </p:txBody>
      </p:sp>
      <p:sp>
        <p:nvSpPr>
          <p:cNvPr id="10" name="Stat Rule 2"/>
          <p:cNvSpPr/>
          <p:nvPr/>
        </p:nvSpPr>
        <p:spPr>
          <a:xfrm>
            <a:off x="4370832" y="1188720"/>
            <a:ext cx="344728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Stat Label 2"/>
          <p:cNvSpPr txBox="1"/>
          <p:nvPr/>
        </p:nvSpPr>
        <p:spPr>
          <a:xfrm>
            <a:off x="4370832" y="1417320"/>
            <a:ext cx="3447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单张录入用时</a:t>
            </a:r>
          </a:p>
        </p:txBody>
      </p:sp>
      <p:sp>
        <p:nvSpPr>
          <p:cNvPr id="12" name="Stat Number 2"/>
          <p:cNvSpPr txBox="1"/>
          <p:nvPr/>
        </p:nvSpPr>
        <p:spPr>
          <a:xfrm>
            <a:off x="4370832" y="1691640"/>
            <a:ext cx="3447288" cy="9144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约 </a:t>
            </a:r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1.5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13" name="Stat Note 2"/>
          <p:cNvSpPr txBox="1"/>
          <p:nvPr/>
        </p:nvSpPr>
        <p:spPr>
          <a:xfrm>
            <a:off x="4370832" y="2670048"/>
            <a:ext cx="3447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改前约 4 分钟</a:t>
            </a:r>
          </a:p>
        </p:txBody>
      </p:sp>
      <p:cxnSp>
        <p:nvCxnSpPr>
          <p:cNvPr id="14" name="Stat Divider 2"/>
          <p:cNvCxnSpPr/>
          <p:nvPr/>
        </p:nvCxnSpPr>
        <p:spPr>
          <a:xfrm>
            <a:off x="4370832" y="3127248"/>
            <a:ext cx="3447288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15" name="Stat Points 2"/>
          <p:cNvSpPr txBox="1"/>
          <p:nvPr/>
        </p:nvSpPr>
        <p:spPr>
          <a:xfrm>
            <a:off x="4370832" y="3291840"/>
            <a:ext cx="3447288" cy="1481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8919" indent="-248919"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  <a:ea typeface="PingFang SC"/>
              </a:rPr>
              <a:t>同一张检验单不再下班前二次录入 Excel</a:t>
            </a:r>
          </a:p>
        </p:txBody>
      </p:sp>
      <p:sp>
        <p:nvSpPr>
          <p:cNvPr id="16" name="Stat Rule 3"/>
          <p:cNvSpPr/>
          <p:nvPr/>
        </p:nvSpPr>
        <p:spPr>
          <a:xfrm>
            <a:off x="8229600" y="1188720"/>
            <a:ext cx="344728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Stat Label 3"/>
          <p:cNvSpPr txBox="1"/>
          <p:nvPr/>
        </p:nvSpPr>
        <p:spPr>
          <a:xfrm>
            <a:off x="8229600" y="1417320"/>
            <a:ext cx="3447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试点周期</a:t>
            </a:r>
          </a:p>
        </p:txBody>
      </p:sp>
      <p:sp>
        <p:nvSpPr>
          <p:cNvPr id="18" name="Stat Number 3"/>
          <p:cNvSpPr txBox="1"/>
          <p:nvPr/>
        </p:nvSpPr>
        <p:spPr>
          <a:xfrm>
            <a:off x="8229600" y="1691640"/>
            <a:ext cx="3447288" cy="9144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8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周</a:t>
            </a:r>
          </a:p>
        </p:txBody>
      </p:sp>
      <p:sp>
        <p:nvSpPr>
          <p:cNvPr id="19" name="Stat Note 3"/>
          <p:cNvSpPr txBox="1"/>
          <p:nvPr/>
        </p:nvSpPr>
        <p:spPr>
          <a:xfrm>
            <a:off x="8229600" y="2670048"/>
            <a:ext cx="3447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A 车间完成试点复盘</a:t>
            </a:r>
          </a:p>
        </p:txBody>
      </p:sp>
      <p:cxnSp>
        <p:nvCxnSpPr>
          <p:cNvPr id="20" name="Stat Divider 3"/>
          <p:cNvCxnSpPr/>
          <p:nvPr/>
        </p:nvCxnSpPr>
        <p:spPr>
          <a:xfrm>
            <a:off x="8229600" y="3127248"/>
            <a:ext cx="3447288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21" name="Stat Points 3"/>
          <p:cNvSpPr txBox="1"/>
          <p:nvPr/>
        </p:nvSpPr>
        <p:spPr>
          <a:xfrm>
            <a:off x="8229600" y="3291840"/>
            <a:ext cx="3447288" cy="1481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8919" indent="-248919"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  <a:ea typeface="PingFang SC"/>
              </a:rPr>
              <a:t>不良率数据仍在核对，未纳入本次结果</a:t>
            </a:r>
          </a:p>
        </p:txBody>
      </p:sp>
      <p:sp>
        <p:nvSpPr>
          <p:cNvPr id="22" name="Stat Source"/>
          <p:cNvSpPr txBox="1"/>
          <p:nvPr/>
        </p:nvSpPr>
        <p:spPr>
          <a:xfrm>
            <a:off x="512064" y="4864608"/>
            <a:ext cx="11164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口径：A 车间 8 周试点数据；不良率数据暂未纳入</a:t>
            </a:r>
          </a:p>
        </p:txBody>
      </p:sp>
      <p:sp>
        <p:nvSpPr>
          <p:cNvPr id="23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试点 8 周完成 2,360 张电子检验单，单张录入用时从约 4 分钟降至约 1.5 分钟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供应商质量周报由周五手工汇总改为周一自动生成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周报方式 / OUTCOMES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周五手工汇总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周一自动生成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>
          <a:xfrm>
            <a:off x="713232" y="2542032"/>
            <a:ext cx="4946904" cy="2121408"/>
          </a:xfrm>
        </p:spPr>
        <p:txBody>
          <a:bodyPr wrap="square"/>
          <a:lstStyle/>
          <a:p>
            <a:r>
              <a:t>检验员每周五从 Excel 汇总供应商质量数据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>
          <a:xfrm>
            <a:off x="6528816" y="2542032"/>
            <a:ext cx="4946904" cy="2121408"/>
          </a:xfrm>
        </p:spPr>
        <p:txBody>
          <a:bodyPr wrap="square"/>
          <a:lstStyle/>
          <a:p>
            <a:r>
              <a:t>系统基于电子检验记录每周一自动生成供应商质量周报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>
          <a:xfrm>
            <a:off x="713232" y="4754880"/>
            <a:ext cx="4946904" cy="320040"/>
          </a:xfrm>
        </p:spPr>
        <p:txBody>
          <a:bodyPr/>
          <a:lstStyle/>
          <a:p>
            <a:r>
              <a:t>周报依赖周五人工整理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/>
          </p:nvPr>
        </p:nvSpPr>
        <p:spPr>
          <a:xfrm>
            <a:off x="6528816" y="4754880"/>
            <a:ext cx="4946904" cy="320040"/>
          </a:xfrm>
        </p:spPr>
        <p:txBody>
          <a:bodyPr/>
          <a:lstStyle/>
          <a:p>
            <a:r>
              <a:t>周报由系统按固定周期生成</a:t>
            </a:r>
          </a:p>
        </p:txBody>
      </p:sp>
      <p:sp>
        <p:nvSpPr>
          <p:cNvPr id="10" name="Lead"/>
          <p:cNvSpPr txBox="1"/>
          <p:nvPr/>
        </p:nvSpPr>
        <p:spPr>
          <a:xfrm>
            <a:off x="512064" y="1188720"/>
            <a:ext cx="10881360" cy="384048"/>
          </a:xfrm>
          <a:prstGeom prst="rect">
            <a:avLst/>
          </a:prstGeom>
          <a:noFill/>
        </p:spPr>
        <p:txBody>
          <a:bodyPr wrap="none" anchor="ctr" lIns="54864" rIns="54864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对比对象均为 A 车间供应商质量周报</a:t>
            </a:r>
          </a:p>
        </p:txBody>
      </p:sp>
      <p:sp>
        <p:nvSpPr>
          <p:cNvPr id="11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供应商质量周报已从每周五手工汇总切换为每周一自动生成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5 template">
  <a:themeElements>
    <a:clrScheme name="Design Red sRGB R-219 G-1 B-28">
      <a:dk1>
        <a:srgbClr val="000000"/>
      </a:dk1>
      <a:lt1>
        <a:srgbClr val="FFFFFF"/>
      </a:lt1>
      <a:dk2>
        <a:srgbClr val="DB011C"/>
      </a:dk2>
      <a:lt2>
        <a:srgbClr val="EEECE1"/>
      </a:lt2>
      <a:accent1>
        <a:srgbClr val="DB011C"/>
      </a:accent1>
      <a:accent2>
        <a:srgbClr val="FDBC18"/>
      </a:accent2>
      <a:accent3>
        <a:srgbClr val="2459AF"/>
      </a:accent3>
      <a:accent4>
        <a:srgbClr val="DA5E00"/>
      </a:accent4>
      <a:accent5>
        <a:srgbClr val="002563"/>
      </a:accent5>
      <a:accent6>
        <a:srgbClr val="DB011C"/>
      </a:accent6>
      <a:hlink>
        <a:srgbClr val="1A4283"/>
      </a:hlink>
      <a:folHlink>
        <a:srgbClr val="595959"/>
      </a:folHlink>
    </a:clrScheme>
    <a:fontScheme name="Milwaukee Too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3" id="{2AA0E91C-229F-4747-BB2F-D29E0248232D}" vid="{3CC085D5-A704-1A4A-8B73-A9C5DF27A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F85DA7-2483-AA4D-B923-1B659AF6C879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76AB20B58D654AA06DE8E33932FA8A" ma:contentTypeVersion="4" ma:contentTypeDescription="Create a new document." ma:contentTypeScope="" ma:versionID="f9465beadc2976007956fe639b04060b">
  <xsd:schema xmlns:xsd="http://www.w3.org/2001/XMLSchema" xmlns:xs="http://www.w3.org/2001/XMLSchema" xmlns:p="http://schemas.microsoft.com/office/2006/metadata/properties" xmlns:ns2="beb76b56-07f3-441d-bfae-cb7ae3539b9d" targetNamespace="http://schemas.microsoft.com/office/2006/metadata/properties" ma:root="true" ma:fieldsID="84c91895f88d411f3e646afb8fff1bc2" ns2:_="">
    <xsd:import namespace="beb76b56-07f3-441d-bfae-cb7ae3539b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76b56-07f3-441d-bfae-cb7ae3539b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3ABD3D-B5BD-4AE7-B129-0369CC1AD6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13778A-D8AB-4A26-96C0-9AA1E481D6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C26B5C-0AE5-4871-8284-7F12DDB8F9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76b56-07f3-441d-bfae-cb7ae3539b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Wingdings</vt:lpstr>
      <vt:lpstr>2015 template</vt:lpstr>
      <vt:lpstr>PowerPoint Presentation</vt:lpstr>
      <vt:lpstr>PowerPoint Presentation</vt:lpstr>
      <vt:lpstr>PowerPoint Presentation</vt:lpstr>
      <vt:lpstr>工作方式对比</vt:lpstr>
    </vt:vector>
  </TitlesOfParts>
  <Company>Milwaukee Tool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creator>David Wang Yi Tao (CN.MS-PIE) 王逸韬</dc:creator>
  <lastModifiedBy>David Wang Yi Tao (CN.MS-PIE) 王逸韬</lastModifiedBy>
  <revision>7</revision>
  <dcterms:created xsi:type="dcterms:W3CDTF">2026-10-14T04:37:53.1524948Z</dcterms:created>
  <dcterms:modified xsi:type="dcterms:W3CDTF">2026-10-14T04:37:53.1524948Z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0x010100B776AB20B58D654AA06DE8E33932FA8A</vt:lpwstr>
  </property>
</Properties>
</file>