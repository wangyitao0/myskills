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7"/>
    <p:sldId id="257" r:id="rId6"/>
    <p:sldId id="258" r:id="rId5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27820-B03C-435F-9827-65C866EC7EBE}" v="1" dt="2026-02-25T03:10:5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ng Yi Tao (CN.MS-PIE) 王逸韬" userId="f2478d3e-731c-412b-9573-d7d8a124d225" providerId="ADAL" clId="{494E8C11-4D4E-4C2B-A295-50700AB3EC1D}"/>
    <pc:docChg chg="modSld delMainMaster">
      <pc:chgData name="David Wang Yi Tao (CN.MS-PIE) 王逸韬" userId="f2478d3e-731c-412b-9573-d7d8a124d225" providerId="ADAL" clId="{494E8C11-4D4E-4C2B-A295-50700AB3EC1D}" dt="2026-02-25T03:10:53.856" v="1"/>
      <pc:docMkLst>
        <pc:docMk/>
      </pc:docMkLst>
      <pc:sldChg chg="modSp">
        <pc:chgData name="David Wang Yi Tao (CN.MS-PIE) 王逸韬" userId="f2478d3e-731c-412b-9573-d7d8a124d225" providerId="ADAL" clId="{494E8C11-4D4E-4C2B-A295-50700AB3EC1D}" dt="2026-02-25T03:10:53.856" v="1"/>
        <pc:sldMkLst>
          <pc:docMk/>
          <pc:sldMk cId="3620478631" sldId="7834"/>
        </pc:sldMkLst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2" creationId="{E229DF9C-D0AF-BD29-290D-2CFFC1707D59}"/>
          </ac:spMkLst>
        </pc:spChg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4" creationId="{14A5351C-6542-F056-BBE4-0BADA95563B9}"/>
          </ac:spMkLst>
        </pc:spChg>
      </pc:sldChg>
      <pc:sldMasterChg chg="del">
        <pc:chgData name="David Wang Yi Tao (CN.MS-PIE) 王逸韬" userId="f2478d3e-731c-412b-9573-d7d8a124d225" providerId="ADAL" clId="{494E8C11-4D4E-4C2B-A295-50700AB3EC1D}" dt="2026-02-25T03:10:51.365" v="0" actId="2696"/>
        <pc:sldMasterMkLst>
          <pc:docMk/>
          <pc:sldMasterMk cId="837834762" sldId="2147483695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DB0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636506" y="1995489"/>
            <a:ext cx="184731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67" dirty="0">
              <a:solidFill>
                <a:srgbClr val="0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133600" y="1374776"/>
            <a:ext cx="7721600" cy="2625725"/>
            <a:chOff x="576" y="986"/>
            <a:chExt cx="4608" cy="1654"/>
          </a:xfrm>
        </p:grpSpPr>
        <p:sp>
          <p:nvSpPr>
            <p:cNvPr id="7" name="Line 7"/>
            <p:cNvSpPr>
              <a:spLocks noChangeShapeType="1"/>
            </p:cNvSpPr>
            <p:nvPr userDrawn="1"/>
          </p:nvSpPr>
          <p:spPr bwMode="auto">
            <a:xfrm>
              <a:off x="576" y="2640"/>
              <a:ext cx="46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  <p:pic>
          <p:nvPicPr>
            <p:cNvPr id="8" name="Picture 8" descr="NBHD and Logo_stacked_alt"/>
            <p:cNvPicPr>
              <a:picLocks noChangeAspect="1" noChangeArrowheads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86"/>
              <a:ext cx="3744" cy="1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0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419600"/>
            <a:ext cx="10363200" cy="457200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953000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</p:spTree>
    <p:extLst>
      <p:ext uri="{BB962C8B-B14F-4D97-AF65-F5344CB8AC3E}">
        <p14:creationId xmlns:p14="http://schemas.microsoft.com/office/powerpoint/2010/main" val="329832118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08000" y="1295400"/>
            <a:ext cx="11379200" cy="52578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E31937"/>
              </a:buClr>
              <a:buFont typeface="Wingdings" panose="05000000000000000000" pitchFamily="2" charset="2"/>
              <a:buChar char="§"/>
              <a:defRPr sz="3200" b="1">
                <a:latin typeface="+mn-lt"/>
              </a:defRPr>
            </a:lvl1pPr>
            <a:lvl2pPr marL="990575" indent="-380990">
              <a:buClr>
                <a:srgbClr val="E31937"/>
              </a:buClr>
              <a:buFont typeface="Wingdings" panose="05000000000000000000" pitchFamily="2" charset="2"/>
              <a:buChar char="§"/>
              <a:defRPr sz="2667">
                <a:latin typeface="+mn-lt"/>
              </a:defRPr>
            </a:lvl2pPr>
            <a:lvl3pPr marL="1523962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marL="2133547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4pPr>
            <a:lvl5pPr marL="2743131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Secondary Title</a:t>
            </a:r>
          </a:p>
          <a:p>
            <a:pPr lvl="4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4030123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 /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21" name="Before Frame"/>
          <p:cNvSpPr txBox="1">
            <a:spLocks noGrp="1"/>
          </p:cNvSpPr>
          <p:nvPr/>
        </p:nvSpPr>
        <p:spPr>
          <a:xfrm>
            <a:off x="512064" y="2331720"/>
            <a:ext cx="5349240" cy="3081528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2" name="After Frame"/>
          <p:cNvSpPr txBox="1">
            <a:spLocks noGrp="1"/>
          </p:cNvSpPr>
          <p:nvPr/>
        </p:nvSpPr>
        <p:spPr>
          <a:xfrm>
            <a:off x="6327648" y="2331720"/>
            <a:ext cx="534924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3" name="Conversion"/>
          <p:cNvSpPr txBox="1">
            <a:spLocks noGrp="1"/>
          </p:cNvSpPr>
          <p:nvPr/>
        </p:nvSpPr>
        <p:spPr>
          <a:xfrm>
            <a:off x="5879592" y="3584448"/>
            <a:ext cx="429768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0" rIns="0" tIns="0" bIns="0">
            <a:noAutofit/>
          </a:bodyPr>
          <a:lstStyle>
            <a:lvl1pPr marL="0" indent="0" algn="ctr">
              <a:buNone/>
              <a:defRPr sz="2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400" b="0">
                <a:solidFill>
                  <a:srgbClr val="6B6B6B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5" name="Before Title"/>
          <p:cNvSpPr txBox="1">
            <a:spLocks noGrp="1"/>
          </p:cNvSpPr>
          <p:nvPr>
            <p:ph type="body" idx="11" hasCustomPrompt="1"/>
          </p:nvPr>
        </p:nvSpPr>
        <p:spPr>
          <a:xfrm>
            <a:off x="1860804" y="1792224"/>
            <a:ext cx="2651760" cy="393192"/>
          </a:xfrm>
          <a:prstGeom prst="rect">
            <a:avLst/>
          </a:prstGeom>
          <a:solidFill>
            <a:srgbClr val="333333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BEFORE</a:t>
            </a:r>
          </a:p>
        </p:txBody>
      </p:sp>
      <p:sp>
        <p:nvSpPr>
          <p:cNvPr id="26" name="After Title"/>
          <p:cNvSpPr txBox="1">
            <a:spLocks noGrp="1"/>
          </p:cNvSpPr>
          <p:nvPr>
            <p:ph type="body" idx="12" hasCustomPrompt="1"/>
          </p:nvPr>
        </p:nvSpPr>
        <p:spPr>
          <a:xfrm>
            <a:off x="7676388" y="1792224"/>
            <a:ext cx="2651760" cy="393192"/>
          </a:xfrm>
          <a:prstGeom prst="rect">
            <a:avLst/>
          </a:prstGeom>
          <a:solidFill>
            <a:srgbClr val="DB011C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AFTER</a:t>
            </a:r>
          </a:p>
        </p:txBody>
      </p:sp>
      <p:sp>
        <p:nvSpPr>
          <p:cNvPr id="27" name="Before Content"/>
          <p:cNvSpPr txBox="1">
            <a:spLocks noGrp="1"/>
          </p:cNvSpPr>
          <p:nvPr>
            <p:ph type="body" idx="13" hasCustomPrompt="1"/>
          </p:nvPr>
        </p:nvSpPr>
        <p:spPr>
          <a:xfrm>
            <a:off x="713232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改前工作方式</a:t>
            </a:r>
          </a:p>
        </p:txBody>
      </p:sp>
      <p:sp>
        <p:nvSpPr>
          <p:cNvPr id="28" name="After Content"/>
          <p:cNvSpPr txBox="1">
            <a:spLocks noGrp="1"/>
          </p:cNvSpPr>
          <p:nvPr>
            <p:ph type="body" idx="14" hasCustomPrompt="1"/>
          </p:nvPr>
        </p:nvSpPr>
        <p:spPr>
          <a:xfrm>
            <a:off x="6528816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改后工作方式</a:t>
            </a:r>
          </a:p>
        </p:txBody>
      </p:sp>
      <p:sp>
        <p:nvSpPr>
          <p:cNvPr id="29" name="Before Caption"/>
          <p:cNvSpPr txBox="1">
            <a:spLocks noGrp="1"/>
          </p:cNvSpPr>
          <p:nvPr>
            <p:ph type="body" idx="15" hasCustomPrompt="1"/>
          </p:nvPr>
        </p:nvSpPr>
        <p:spPr>
          <a:xfrm>
            <a:off x="512064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  <p:sp>
        <p:nvSpPr>
          <p:cNvPr id="30" name="After Caption"/>
          <p:cNvSpPr txBox="1">
            <a:spLocks noGrp="1"/>
          </p:cNvSpPr>
          <p:nvPr>
            <p:ph type="body" idx="16" hasCustomPrompt="1"/>
          </p:nvPr>
        </p:nvSpPr>
        <p:spPr>
          <a:xfrm>
            <a:off x="6327648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Process Area"/>
          <p:cNvSpPr>
            <a:spLocks noGrp="1"/>
          </p:cNvSpPr>
          <p:nvPr>
            <p:ph type="body" sz="quarter" idx="17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流程区：生成器按步骤数（3–5）等分绘制卡片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Stats Area"/>
          <p:cNvSpPr>
            <a:spLocks noGrp="1"/>
          </p:cNvSpPr>
          <p:nvPr>
            <p:ph type="body" sz="quarter" idx="18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数据区：生成器按条目数（2–4）等分绘制数据卡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Timeline Area"/>
          <p:cNvSpPr>
            <a:spLocks noGrp="1"/>
          </p:cNvSpPr>
          <p:nvPr>
            <p:ph type="body" sz="quarter" idx="19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时间线区：生成器按节点数（3–6）等距绘制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Image Frame"/>
          <p:cNvSpPr>
            <a:spLocks noGrp="1"/>
          </p:cNvSpPr>
          <p:nvPr>
            <p:ph type="body" sz="quarter" idx="20" hasCustomPrompt="1"/>
          </p:nvPr>
        </p:nvSpPr>
        <p:spPr>
          <a:xfrm>
            <a:off x="512064" y="1188720"/>
            <a:ext cx="6986016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图框（16:9）：图片等比缩放、居中，不裁切</a:t>
            </a:r>
          </a:p>
        </p:txBody>
      </p:sp>
      <p:sp>
        <p:nvSpPr>
          <p:cNvPr id="9" name="Text Area"/>
          <p:cNvSpPr>
            <a:spLocks noGrp="1"/>
          </p:cNvSpPr>
          <p:nvPr>
            <p:ph type="body" sz="quarter" idx="21" hasCustomPrompt="1"/>
          </p:nvPr>
        </p:nvSpPr>
        <p:spPr>
          <a:xfrm>
            <a:off x="7772400" y="1188720"/>
            <a:ext cx="3904488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228600" indent="-22860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6B6B6B"/>
              </a:buClr>
              <a:buSzPct val="100000"/>
              <a:buFont typeface="Arial"/>
              <a:buChar char="•"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要点（建议不超过 5 条）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9" r:id="rId6"/>
    <p:sldLayoutId id="2147483690" r:id="rId7"/>
    <p:sldLayoutId id="2147483691" r:id="rId8"/>
    <p:sldLayoutId id="2147483692" r:id="rId9"/>
    <p:sldLayoutId id="2147483693" r:id="rId10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仓叉车充电排班试点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r>
              <a:t>试点总结与 B 仓推广申请</a:t>
            </a:r>
          </a:p>
          <a:p>
            <a:r>
              <a:t>2026-10-17   林晓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早高峰扎堆充电，每台车日均等 38 分钟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早高峰排队 / PROBLEM</a:t>
            </a:r>
          </a:p>
        </p:txBody>
      </p:sp>
      <p:sp>
        <p:nvSpPr>
          <p:cNvPr id="4" name="Side Card 1"/>
          <p:cNvSpPr/>
          <p:nvPr/>
        </p:nvSpPr>
        <p:spPr>
          <a:xfrm>
            <a:off x="512064" y="1874519"/>
            <a:ext cx="5486400" cy="1341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ide Number 1"/>
          <p:cNvSpPr txBox="1"/>
          <p:nvPr/>
        </p:nvSpPr>
        <p:spPr>
          <a:xfrm>
            <a:off x="786384" y="1874519"/>
            <a:ext cx="2651760" cy="1341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200" b="1">
                <a:solidFill>
                  <a:srgbClr val="1A1A1A"/>
                </a:solidFill>
                <a:latin typeface="Arial"/>
                <a:ea typeface="PingFang SC"/>
              </a:rPr>
              <a:t>6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6" name="Side Text 1"/>
          <p:cNvSpPr txBox="1"/>
          <p:nvPr/>
        </p:nvSpPr>
        <p:spPr>
          <a:xfrm>
            <a:off x="3529584" y="1874519"/>
            <a:ext cx="2286000" cy="1341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日均同时排队</a:t>
            </a:r>
          </a:p>
        </p:txBody>
      </p:sp>
      <p:sp>
        <p:nvSpPr>
          <p:cNvPr id="7" name="Side Card 2"/>
          <p:cNvSpPr/>
          <p:nvPr/>
        </p:nvSpPr>
        <p:spPr>
          <a:xfrm>
            <a:off x="512064" y="3444240"/>
            <a:ext cx="5486400" cy="1341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Side Accent 2"/>
          <p:cNvSpPr/>
          <p:nvPr/>
        </p:nvSpPr>
        <p:spPr>
          <a:xfrm>
            <a:off x="512064" y="3444240"/>
            <a:ext cx="73152" cy="1341120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ide Number 2"/>
          <p:cNvSpPr txBox="1"/>
          <p:nvPr/>
        </p:nvSpPr>
        <p:spPr>
          <a:xfrm>
            <a:off x="786384" y="3444240"/>
            <a:ext cx="2651760" cy="1341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200" b="1">
                <a:solidFill>
                  <a:srgbClr val="DB011C"/>
                </a:solidFill>
                <a:latin typeface="Arial"/>
                <a:ea typeface="PingFang SC"/>
              </a:rPr>
              <a:t>38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10" name="Side Text 2"/>
          <p:cNvSpPr txBox="1"/>
          <p:nvPr/>
        </p:nvSpPr>
        <p:spPr>
          <a:xfrm>
            <a:off x="3529584" y="3444240"/>
            <a:ext cx="2286000" cy="1341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每台日均</a:t>
            </a:r>
          </a:p>
        </p:txBody>
      </p:sp>
      <p:sp>
        <p:nvSpPr>
          <p:cNvPr id="11" name="Side Card 3"/>
          <p:cNvSpPr/>
          <p:nvPr/>
        </p:nvSpPr>
        <p:spPr>
          <a:xfrm>
            <a:off x="512064" y="5013960"/>
            <a:ext cx="5486400" cy="1341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Side Number 3"/>
          <p:cNvSpPr txBox="1"/>
          <p:nvPr/>
        </p:nvSpPr>
        <p:spPr>
          <a:xfrm>
            <a:off x="786384" y="5013960"/>
            <a:ext cx="2651760" cy="1341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200" b="1">
                <a:solidFill>
                  <a:srgbClr val="1A1A1A"/>
                </a:solidFill>
                <a:latin typeface="Arial"/>
                <a:ea typeface="PingFang SC"/>
              </a:rPr>
              <a:t>9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13" name="Side Text 3"/>
          <p:cNvSpPr txBox="1"/>
          <p:nvPr/>
        </p:nvSpPr>
        <p:spPr>
          <a:xfrm>
            <a:off x="3529584" y="5013960"/>
            <a:ext cx="2286000" cy="1341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6 月过放、温度告警</a:t>
            </a:r>
          </a:p>
        </p:txBody>
      </p:sp>
      <p:sp>
        <p:nvSpPr>
          <p:cNvPr id="14" name="Side Conclusion Title"/>
          <p:cNvSpPr txBox="1"/>
          <p:nvPr/>
        </p:nvSpPr>
        <p:spPr>
          <a:xfrm>
            <a:off x="6455664" y="1874519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6 月现状</a:t>
            </a:r>
          </a:p>
        </p:txBody>
      </p:sp>
      <p:sp>
        <p:nvSpPr>
          <p:cNvPr id="15" name="Side Conclusion Rule"/>
          <p:cNvSpPr/>
          <p:nvPr/>
        </p:nvSpPr>
        <p:spPr>
          <a:xfrm>
            <a:off x="6455664" y="2350008"/>
            <a:ext cx="5212079" cy="9144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Side Points"/>
          <p:cNvSpPr txBox="1"/>
          <p:nvPr/>
        </p:nvSpPr>
        <p:spPr>
          <a:xfrm>
            <a:off x="6455664" y="2532887"/>
            <a:ext cx="5212079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Arial"/>
                <a:ea typeface="PingFang SC"/>
              </a:rPr>
              <a:t>1   </a:t>
            </a: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司机凭经验排队，8–10 点扎堆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6B6B6B"/>
                </a:solidFill>
                <a:latin typeface="Arial"/>
                <a:ea typeface="PingFang SC"/>
              </a:rPr>
              <a:t>2   </a:t>
            </a: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低电量车也得排队，过放告警多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6B6B6B"/>
                </a:solidFill>
                <a:latin typeface="Arial"/>
                <a:ea typeface="PingFang SC"/>
              </a:rPr>
              <a:t>3   </a:t>
            </a: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12 台车共用 6 个充电位，需求集中在同一时段</a:t>
            </a:r>
          </a:p>
        </p:txBody>
      </p:sp>
      <p:sp>
        <p:nvSpPr>
          <p:cNvPr id="17" name="Stat Source"/>
          <p:cNvSpPr txBox="1"/>
          <p:nvPr/>
        </p:nvSpPr>
        <p:spPr>
          <a:xfrm>
            <a:off x="6455664" y="5852160"/>
            <a:ext cx="5212079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月，A 仓 12 台；排队为摄像头每日 8:30 抽样，其余为设备系统记录</a:t>
            </a:r>
          </a:p>
        </p:txBody>
      </p:sp>
      <p:sp>
        <p:nvSpPr>
          <p:cNvPr id="18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问题在没有排班，不在充电位不够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系统按电量排时段，司机到点再去充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排班做法 / SOLUTION</a:t>
            </a:r>
          </a:p>
        </p:txBody>
      </p:sp>
      <p:cxnSp>
        <p:nvCxnSpPr>
          <p:cNvPr id="4" name="Process Line 1"/>
          <p:cNvCxnSpPr/>
          <p:nvPr/>
        </p:nvCxnSpPr>
        <p:spPr>
          <a:xfrm>
            <a:off x="2519172" y="3246120"/>
            <a:ext cx="1563624" cy="0"/>
          </a:xfrm>
          <a:prstGeom prst="line">
            <a:avLst/>
          </a:prstGeom>
          <a:ln w="28575">
            <a:solidFill>
              <a:srgbClr val="BFBFBF"/>
            </a:solidFill>
          </a:ln>
        </p:spPr>
      </p:cxnSp>
      <p:cxnSp>
        <p:nvCxnSpPr>
          <p:cNvPr id="5" name="Process Line 2"/>
          <p:cNvCxnSpPr/>
          <p:nvPr/>
        </p:nvCxnSpPr>
        <p:spPr>
          <a:xfrm>
            <a:off x="5308092" y="3246120"/>
            <a:ext cx="1563624" cy="0"/>
          </a:xfrm>
          <a:prstGeom prst="line">
            <a:avLst/>
          </a:prstGeom>
          <a:ln w="28575">
            <a:solidFill>
              <a:srgbClr val="BFBFBF"/>
            </a:solidFill>
          </a:ln>
        </p:spPr>
      </p:cxnSp>
      <p:cxnSp>
        <p:nvCxnSpPr>
          <p:cNvPr id="6" name="Process Line 3"/>
          <p:cNvCxnSpPr/>
          <p:nvPr/>
        </p:nvCxnSpPr>
        <p:spPr>
          <a:xfrm>
            <a:off x="8097012" y="3246120"/>
            <a:ext cx="1563624" cy="0"/>
          </a:xfrm>
          <a:prstGeom prst="line">
            <a:avLst/>
          </a:prstGeom>
          <a:ln w="28575">
            <a:solidFill>
              <a:srgbClr val="BFBFBF"/>
            </a:solidFill>
          </a:ln>
        </p:spPr>
      </p:cxnSp>
      <p:sp>
        <p:nvSpPr>
          <p:cNvPr id="7" name="Process Number 1"/>
          <p:cNvSpPr/>
          <p:nvPr/>
        </p:nvSpPr>
        <p:spPr>
          <a:xfrm>
            <a:off x="1403604" y="2743200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  <a:ea typeface="PingFang SC"/>
              </a:rPr>
              <a:t>1</a:t>
            </a:r>
          </a:p>
        </p:txBody>
      </p:sp>
      <p:sp>
        <p:nvSpPr>
          <p:cNvPr id="8" name="Process Title 1"/>
          <p:cNvSpPr txBox="1"/>
          <p:nvPr/>
        </p:nvSpPr>
        <p:spPr>
          <a:xfrm>
            <a:off x="649224" y="406907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按电量分时段</a:t>
            </a:r>
          </a:p>
        </p:txBody>
      </p:sp>
      <p:sp>
        <p:nvSpPr>
          <p:cNvPr id="9" name="Process Desc 1"/>
          <p:cNvSpPr txBox="1"/>
          <p:nvPr/>
        </p:nvSpPr>
        <p:spPr>
          <a:xfrm>
            <a:off x="694944" y="4636007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按剩余电量排序，30 分钟一档</a:t>
            </a:r>
          </a:p>
        </p:txBody>
      </p:sp>
      <p:sp>
        <p:nvSpPr>
          <p:cNvPr id="10" name="Process Number 2"/>
          <p:cNvSpPr/>
          <p:nvPr/>
        </p:nvSpPr>
        <p:spPr>
          <a:xfrm>
            <a:off x="4192524" y="2743200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11" name="Process Title 2"/>
          <p:cNvSpPr txBox="1"/>
          <p:nvPr/>
        </p:nvSpPr>
        <p:spPr>
          <a:xfrm>
            <a:off x="3438144" y="406907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推送到终端</a:t>
            </a:r>
          </a:p>
        </p:txBody>
      </p:sp>
      <p:sp>
        <p:nvSpPr>
          <p:cNvPr id="12" name="Process Desc 2"/>
          <p:cNvSpPr txBox="1"/>
          <p:nvPr/>
        </p:nvSpPr>
        <p:spPr>
          <a:xfrm>
            <a:off x="3483864" y="4636007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时段发到手持终端，到点提醒</a:t>
            </a:r>
          </a:p>
        </p:txBody>
      </p:sp>
      <p:sp>
        <p:nvSpPr>
          <p:cNvPr id="13" name="Process Number 3"/>
          <p:cNvSpPr/>
          <p:nvPr/>
        </p:nvSpPr>
        <p:spPr>
          <a:xfrm>
            <a:off x="6981444" y="2743200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  <a:ea typeface="PingFang SC"/>
              </a:rPr>
              <a:t>3</a:t>
            </a:r>
          </a:p>
        </p:txBody>
      </p:sp>
      <p:sp>
        <p:nvSpPr>
          <p:cNvPr id="14" name="Process Title 3"/>
          <p:cNvSpPr txBox="1"/>
          <p:nvPr/>
        </p:nvSpPr>
        <p:spPr>
          <a:xfrm>
            <a:off x="6227064" y="406907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低电量优先</a:t>
            </a:r>
          </a:p>
        </p:txBody>
      </p:sp>
      <p:sp>
        <p:nvSpPr>
          <p:cNvPr id="15" name="Process Desc 3"/>
          <p:cNvSpPr txBox="1"/>
          <p:nvPr/>
        </p:nvSpPr>
        <p:spPr>
          <a:xfrm>
            <a:off x="6272784" y="4636007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电量低于 20% 的车直接插队</a:t>
            </a:r>
          </a:p>
        </p:txBody>
      </p:sp>
      <p:sp>
        <p:nvSpPr>
          <p:cNvPr id="16" name="Process Number 4"/>
          <p:cNvSpPr/>
          <p:nvPr/>
        </p:nvSpPr>
        <p:spPr>
          <a:xfrm>
            <a:off x="9770363" y="2743200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  <a:ea typeface="PingFang SC"/>
              </a:rPr>
              <a:t>4</a:t>
            </a:r>
          </a:p>
        </p:txBody>
      </p:sp>
      <p:sp>
        <p:nvSpPr>
          <p:cNvPr id="17" name="Process Title 4"/>
          <p:cNvSpPr txBox="1"/>
          <p:nvPr/>
        </p:nvSpPr>
        <p:spPr>
          <a:xfrm>
            <a:off x="9015984" y="4069079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早会看执行</a:t>
            </a:r>
          </a:p>
        </p:txBody>
      </p:sp>
      <p:sp>
        <p:nvSpPr>
          <p:cNvPr id="18" name="Process Desc 4"/>
          <p:cNvSpPr txBox="1"/>
          <p:nvPr/>
        </p:nvSpPr>
        <p:spPr>
          <a:xfrm>
            <a:off x="9061703" y="4636007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班组长每天查前一天执行率</a:t>
            </a:r>
          </a:p>
        </p:txBody>
      </p:sp>
      <p:sp>
        <p:nvSpPr>
          <p:cNvPr id="19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未新增采购：IT 内部配置，复用现有手持终端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7 月上线，8 月起三班全量运行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试点进度 / MILESTONE</a:t>
            </a:r>
          </a:p>
        </p:txBody>
      </p:sp>
      <p:sp>
        <p:nvSpPr>
          <p:cNvPr id="4" name="Legend Icon 1"/>
          <p:cNvSpPr/>
          <p:nvPr/>
        </p:nvSpPr>
        <p:spPr>
          <a:xfrm>
            <a:off x="7266432" y="1901951"/>
            <a:ext cx="182880" cy="18288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gend Check 1"/>
          <p:cNvSpPr/>
          <p:nvPr/>
        </p:nvSpPr>
        <p:spPr>
          <a:xfrm>
            <a:off x="7310324" y="1956815"/>
            <a:ext cx="98754" cy="73152"/>
          </a:xfrm>
          <a:custGeom>
            <a:avLst/>
            <a:gdLst/>
            <a:ahLst/>
            <a:cxnLst/>
            <a:rect l="l" t="t" r="r" b="b"/>
            <a:pathLst>
              <a:path w="98754" h="73152">
                <a:moveTo>
                  <a:pt x="0" y="36576"/>
                </a:moveTo>
                <a:lnTo>
                  <a:pt x="34747" y="73152"/>
                </a:lnTo>
                <a:lnTo>
                  <a:pt x="98754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gend Label 1"/>
          <p:cNvSpPr txBox="1"/>
          <p:nvPr/>
        </p:nvSpPr>
        <p:spPr>
          <a:xfrm>
            <a:off x="7531608" y="1874519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已完成</a:t>
            </a:r>
          </a:p>
        </p:txBody>
      </p:sp>
      <p:sp>
        <p:nvSpPr>
          <p:cNvPr id="7" name="Legend Icon 2"/>
          <p:cNvSpPr/>
          <p:nvPr/>
        </p:nvSpPr>
        <p:spPr>
          <a:xfrm>
            <a:off x="8363712" y="1901951"/>
            <a:ext cx="182880" cy="182880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egend Label 2"/>
          <p:cNvSpPr txBox="1"/>
          <p:nvPr/>
        </p:nvSpPr>
        <p:spPr>
          <a:xfrm>
            <a:off x="8628888" y="1874519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进行中</a:t>
            </a:r>
          </a:p>
        </p:txBody>
      </p:sp>
      <p:sp>
        <p:nvSpPr>
          <p:cNvPr id="9" name="Legend Icon 3"/>
          <p:cNvSpPr/>
          <p:nvPr/>
        </p:nvSpPr>
        <p:spPr>
          <a:xfrm>
            <a:off x="9460992" y="1901951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B01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egend Label 3"/>
          <p:cNvSpPr txBox="1"/>
          <p:nvPr/>
        </p:nvSpPr>
        <p:spPr>
          <a:xfrm>
            <a:off x="9726168" y="1874519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未完成</a:t>
            </a:r>
          </a:p>
        </p:txBody>
      </p:sp>
      <p:sp>
        <p:nvSpPr>
          <p:cNvPr id="11" name="Legend Icon 4"/>
          <p:cNvSpPr/>
          <p:nvPr/>
        </p:nvSpPr>
        <p:spPr>
          <a:xfrm>
            <a:off x="10530840" y="1874519"/>
            <a:ext cx="237744" cy="237744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egend Label 4"/>
          <p:cNvSpPr txBox="1"/>
          <p:nvPr/>
        </p:nvSpPr>
        <p:spPr>
          <a:xfrm>
            <a:off x="10823448" y="1874519"/>
            <a:ext cx="8534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关键里程碑</a:t>
            </a:r>
          </a:p>
        </p:txBody>
      </p:sp>
      <p:cxnSp>
        <p:nvCxnSpPr>
          <p:cNvPr id="13" name="Progress Line"/>
          <p:cNvCxnSpPr/>
          <p:nvPr/>
        </p:nvCxnSpPr>
        <p:spPr>
          <a:xfrm>
            <a:off x="1804797" y="3977640"/>
            <a:ext cx="8579358" cy="0"/>
          </a:xfrm>
          <a:prstGeom prst="line">
            <a:avLst/>
          </a:prstGeom>
          <a:ln w="50800">
            <a:solidFill>
              <a:srgbClr val="2E7D32"/>
            </a:solidFill>
          </a:ln>
          <a:effectLst/>
        </p:spPr>
      </p:cxnSp>
      <p:sp>
        <p:nvSpPr>
          <p:cNvPr id="14" name="Milestone Node 1"/>
          <p:cNvSpPr/>
          <p:nvPr/>
        </p:nvSpPr>
        <p:spPr>
          <a:xfrm>
            <a:off x="1658493" y="383133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ilestone Check 1"/>
          <p:cNvSpPr/>
          <p:nvPr/>
        </p:nvSpPr>
        <p:spPr>
          <a:xfrm>
            <a:off x="1728719" y="391911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ilestone Node 2"/>
          <p:cNvSpPr/>
          <p:nvPr/>
        </p:nvSpPr>
        <p:spPr>
          <a:xfrm>
            <a:off x="4518279" y="383133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ilestone Check 2"/>
          <p:cNvSpPr/>
          <p:nvPr/>
        </p:nvSpPr>
        <p:spPr>
          <a:xfrm>
            <a:off x="4588505" y="391911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ilestone Node 3"/>
          <p:cNvSpPr/>
          <p:nvPr/>
        </p:nvSpPr>
        <p:spPr>
          <a:xfrm>
            <a:off x="7304913" y="3758184"/>
            <a:ext cx="438912" cy="438912"/>
          </a:xfrm>
          <a:prstGeom prst="diamond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ilestone Check 3"/>
          <p:cNvSpPr/>
          <p:nvPr/>
        </p:nvSpPr>
        <p:spPr>
          <a:xfrm>
            <a:off x="7438782" y="3911804"/>
            <a:ext cx="177758" cy="131672"/>
          </a:xfrm>
          <a:custGeom>
            <a:avLst/>
            <a:gdLst/>
            <a:ahLst/>
            <a:cxnLst/>
            <a:rect l="l" t="t" r="r" b="b"/>
            <a:pathLst>
              <a:path w="177758" h="131672">
                <a:moveTo>
                  <a:pt x="0" y="65836"/>
                </a:moveTo>
                <a:lnTo>
                  <a:pt x="62545" y="131672"/>
                </a:lnTo>
                <a:lnTo>
                  <a:pt x="17775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ilestone Node 4"/>
          <p:cNvSpPr/>
          <p:nvPr/>
        </p:nvSpPr>
        <p:spPr>
          <a:xfrm>
            <a:off x="10237851" y="383133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ilestone Check 4"/>
          <p:cNvSpPr/>
          <p:nvPr/>
        </p:nvSpPr>
        <p:spPr>
          <a:xfrm>
            <a:off x="10308077" y="391911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ilestone Date 1"/>
          <p:cNvSpPr txBox="1"/>
          <p:nvPr/>
        </p:nvSpPr>
        <p:spPr>
          <a:xfrm>
            <a:off x="512064" y="306324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07-01</a:t>
            </a:r>
          </a:p>
        </p:txBody>
      </p:sp>
      <p:sp>
        <p:nvSpPr>
          <p:cNvPr id="23" name="Milestone Date 2"/>
          <p:cNvSpPr txBox="1"/>
          <p:nvPr/>
        </p:nvSpPr>
        <p:spPr>
          <a:xfrm>
            <a:off x="3371850" y="306324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07-15</a:t>
            </a:r>
          </a:p>
        </p:txBody>
      </p:sp>
      <p:sp>
        <p:nvSpPr>
          <p:cNvPr id="24" name="Milestone Date 3"/>
          <p:cNvSpPr txBox="1"/>
          <p:nvPr/>
        </p:nvSpPr>
        <p:spPr>
          <a:xfrm>
            <a:off x="6231636" y="306324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08-01</a:t>
            </a:r>
          </a:p>
        </p:txBody>
      </p:sp>
      <p:sp>
        <p:nvSpPr>
          <p:cNvPr id="25" name="Milestone Date 4"/>
          <p:cNvSpPr txBox="1"/>
          <p:nvPr/>
        </p:nvSpPr>
        <p:spPr>
          <a:xfrm>
            <a:off x="9091422" y="306324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09-30</a:t>
            </a:r>
          </a:p>
        </p:txBody>
      </p:sp>
      <p:sp>
        <p:nvSpPr>
          <p:cNvPr id="26" name="Milestone Text 1"/>
          <p:cNvSpPr txBox="1"/>
          <p:nvPr/>
        </p:nvSpPr>
        <p:spPr>
          <a:xfrm>
            <a:off x="512064" y="452628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方案评审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评审通过</a:t>
            </a:r>
          </a:p>
        </p:txBody>
      </p:sp>
      <p:sp>
        <p:nvSpPr>
          <p:cNvPr id="27" name="Milestone Text 2"/>
          <p:cNvSpPr txBox="1"/>
          <p:nvPr/>
        </p:nvSpPr>
        <p:spPr>
          <a:xfrm>
            <a:off x="3371850" y="452628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系统上线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早班试运行</a:t>
            </a:r>
          </a:p>
        </p:txBody>
      </p:sp>
      <p:sp>
        <p:nvSpPr>
          <p:cNvPr id="28" name="Milestone Text 3"/>
          <p:cNvSpPr txBox="1"/>
          <p:nvPr/>
        </p:nvSpPr>
        <p:spPr>
          <a:xfrm>
            <a:off x="6231636" y="452628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全量排班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三个班次</a:t>
            </a:r>
          </a:p>
        </p:txBody>
      </p:sp>
      <p:sp>
        <p:nvSpPr>
          <p:cNvPr id="29" name="Milestone Text 4"/>
          <p:cNvSpPr txBox="1"/>
          <p:nvPr/>
        </p:nvSpPr>
        <p:spPr>
          <a:xfrm>
            <a:off x="9091422" y="452628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试点复盘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试点结束</a:t>
            </a:r>
          </a:p>
        </p:txBody>
      </p:sp>
      <p:sp>
        <p:nvSpPr>
          <p:cNvPr id="30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试点按计划完成，9 月排班执行率 96%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等待时间降 7 成，可用率升到 93%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试点结果 / RESULTS</a:t>
            </a:r>
          </a:p>
        </p:txBody>
      </p:sp>
      <p:sp>
        <p:nvSpPr>
          <p:cNvPr id="4" name="Stat Rule 1"/>
          <p:cNvSpPr/>
          <p:nvPr/>
        </p:nvSpPr>
        <p:spPr>
          <a:xfrm>
            <a:off x="512064" y="1874519"/>
            <a:ext cx="2480310" cy="73152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tat Label 1"/>
          <p:cNvSpPr txBox="1"/>
          <p:nvPr/>
        </p:nvSpPr>
        <p:spPr>
          <a:xfrm>
            <a:off x="512064" y="21305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</p:txBody>
      </p:sp>
      <p:sp>
        <p:nvSpPr>
          <p:cNvPr id="6" name="Stat Number 1"/>
          <p:cNvSpPr txBox="1"/>
          <p:nvPr/>
        </p:nvSpPr>
        <p:spPr>
          <a:xfrm>
            <a:off x="512064" y="2496312"/>
            <a:ext cx="2480310" cy="1341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0" b="1">
                <a:solidFill>
                  <a:srgbClr val="DB011C"/>
                </a:solidFill>
                <a:latin typeface="Arial"/>
                <a:ea typeface="PingFang SC"/>
              </a:rPr>
              <a:t>11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7" name="Stat Note 1"/>
          <p:cNvSpPr txBox="1"/>
          <p:nvPr/>
        </p:nvSpPr>
        <p:spPr>
          <a:xfrm>
            <a:off x="512064" y="3883151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38 分钟</a:t>
            </a:r>
          </a:p>
        </p:txBody>
      </p:sp>
      <p:cxnSp>
        <p:nvCxnSpPr>
          <p:cNvPr id="8" name="Stat Divider 1"/>
          <p:cNvCxnSpPr/>
          <p:nvPr/>
        </p:nvCxnSpPr>
        <p:spPr>
          <a:xfrm>
            <a:off x="512064" y="440436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9" name="Stat Points 1"/>
          <p:cNvSpPr txBox="1"/>
          <p:nvPr/>
        </p:nvSpPr>
        <p:spPr>
          <a:xfrm>
            <a:off x="512064" y="4605528"/>
            <a:ext cx="2480310" cy="1338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司机按推送时段到点充电</a:t>
            </a:r>
          </a:p>
          <a:p>
            <a:pPr marL="320040" indent="-320040">
              <a:spcBef>
                <a:spcPts val="1000"/>
              </a:spcBef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低电量车优先，不再排队等</a:t>
            </a:r>
          </a:p>
        </p:txBody>
      </p:sp>
      <p:sp>
        <p:nvSpPr>
          <p:cNvPr id="10" name="Stat Rule 2"/>
          <p:cNvSpPr/>
          <p:nvPr/>
        </p:nvSpPr>
        <p:spPr>
          <a:xfrm>
            <a:off x="3403854" y="1874519"/>
            <a:ext cx="248031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tat Label 2"/>
          <p:cNvSpPr txBox="1"/>
          <p:nvPr/>
        </p:nvSpPr>
        <p:spPr>
          <a:xfrm>
            <a:off x="3403854" y="21305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叉车可用率</a:t>
            </a:r>
          </a:p>
        </p:txBody>
      </p:sp>
      <p:sp>
        <p:nvSpPr>
          <p:cNvPr id="12" name="Stat Number 2"/>
          <p:cNvSpPr txBox="1"/>
          <p:nvPr/>
        </p:nvSpPr>
        <p:spPr>
          <a:xfrm>
            <a:off x="3403854" y="2496312"/>
            <a:ext cx="2480310" cy="1341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0" b="1">
                <a:solidFill>
                  <a:srgbClr val="1A1A1A"/>
                </a:solidFill>
                <a:latin typeface="Arial"/>
                <a:ea typeface="PingFang SC"/>
              </a:rPr>
              <a:t>93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%</a:t>
            </a:r>
          </a:p>
        </p:txBody>
      </p:sp>
      <p:sp>
        <p:nvSpPr>
          <p:cNvPr id="13" name="Stat Note 2"/>
          <p:cNvSpPr txBox="1"/>
          <p:nvPr/>
        </p:nvSpPr>
        <p:spPr>
          <a:xfrm>
            <a:off x="3403854" y="3883151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81%</a:t>
            </a:r>
          </a:p>
        </p:txBody>
      </p:sp>
      <p:cxnSp>
        <p:nvCxnSpPr>
          <p:cNvPr id="14" name="Stat Divider 2"/>
          <p:cNvCxnSpPr/>
          <p:nvPr/>
        </p:nvCxnSpPr>
        <p:spPr>
          <a:xfrm>
            <a:off x="3403854" y="440436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15" name="Stat Points 2"/>
          <p:cNvSpPr txBox="1"/>
          <p:nvPr/>
        </p:nvSpPr>
        <p:spPr>
          <a:xfrm>
            <a:off x="3403854" y="4605528"/>
            <a:ext cx="2480310" cy="1338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等待少了，在岗时间变长</a:t>
            </a:r>
          </a:p>
          <a:p>
            <a:pPr marL="320040" indent="-320040">
              <a:spcBef>
                <a:spcPts val="1000"/>
              </a:spcBef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不含计划保养时段</a:t>
            </a:r>
          </a:p>
        </p:txBody>
      </p:sp>
      <p:sp>
        <p:nvSpPr>
          <p:cNvPr id="16" name="Stat Rule 3"/>
          <p:cNvSpPr/>
          <p:nvPr/>
        </p:nvSpPr>
        <p:spPr>
          <a:xfrm>
            <a:off x="6295644" y="1874519"/>
            <a:ext cx="248031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tat Label 3"/>
          <p:cNvSpPr txBox="1"/>
          <p:nvPr/>
        </p:nvSpPr>
        <p:spPr>
          <a:xfrm>
            <a:off x="6295644" y="21305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</p:txBody>
      </p:sp>
      <p:sp>
        <p:nvSpPr>
          <p:cNvPr id="18" name="Stat Number 3"/>
          <p:cNvSpPr txBox="1"/>
          <p:nvPr/>
        </p:nvSpPr>
        <p:spPr>
          <a:xfrm>
            <a:off x="6295644" y="2496312"/>
            <a:ext cx="2480310" cy="1341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0" b="1">
                <a:solidFill>
                  <a:srgbClr val="1A1A1A"/>
                </a:solidFill>
                <a:latin typeface="Arial"/>
                <a:ea typeface="PingFang SC"/>
              </a:rPr>
              <a:t>2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19" name="Stat Note 3"/>
          <p:cNvSpPr txBox="1"/>
          <p:nvPr/>
        </p:nvSpPr>
        <p:spPr>
          <a:xfrm>
            <a:off x="6295644" y="3883151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6 台</a:t>
            </a:r>
          </a:p>
        </p:txBody>
      </p:sp>
      <p:cxnSp>
        <p:nvCxnSpPr>
          <p:cNvPr id="20" name="Stat Divider 3"/>
          <p:cNvCxnSpPr/>
          <p:nvPr/>
        </p:nvCxnSpPr>
        <p:spPr>
          <a:xfrm>
            <a:off x="6295644" y="440436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21" name="Stat Points 3"/>
          <p:cNvSpPr txBox="1"/>
          <p:nvPr/>
        </p:nvSpPr>
        <p:spPr>
          <a:xfrm>
            <a:off x="6295644" y="4605528"/>
            <a:ext cx="2480310" cy="1338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周报巡检未见 3 台以上同时排队</a:t>
            </a:r>
          </a:p>
        </p:txBody>
      </p:sp>
      <p:sp>
        <p:nvSpPr>
          <p:cNvPr id="22" name="Stat Rule 4"/>
          <p:cNvSpPr/>
          <p:nvPr/>
        </p:nvSpPr>
        <p:spPr>
          <a:xfrm>
            <a:off x="9187434" y="1874519"/>
            <a:ext cx="248031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Stat Label 4"/>
          <p:cNvSpPr txBox="1"/>
          <p:nvPr/>
        </p:nvSpPr>
        <p:spPr>
          <a:xfrm>
            <a:off x="9187434" y="21305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</p:txBody>
      </p:sp>
      <p:sp>
        <p:nvSpPr>
          <p:cNvPr id="24" name="Stat Number 4"/>
          <p:cNvSpPr txBox="1"/>
          <p:nvPr/>
        </p:nvSpPr>
        <p:spPr>
          <a:xfrm>
            <a:off x="9187434" y="2496312"/>
            <a:ext cx="2480310" cy="1341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0" b="1">
                <a:solidFill>
                  <a:srgbClr val="1A1A1A"/>
                </a:solidFill>
                <a:latin typeface="Arial"/>
                <a:ea typeface="PingFang SC"/>
              </a:rPr>
              <a:t>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25" name="Stat Note 4"/>
          <p:cNvSpPr txBox="1"/>
          <p:nvPr/>
        </p:nvSpPr>
        <p:spPr>
          <a:xfrm>
            <a:off x="9187434" y="3883151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9 次</a:t>
            </a:r>
          </a:p>
        </p:txBody>
      </p:sp>
      <p:cxnSp>
        <p:nvCxnSpPr>
          <p:cNvPr id="26" name="Stat Divider 4"/>
          <p:cNvCxnSpPr/>
          <p:nvPr/>
        </p:nvCxnSpPr>
        <p:spPr>
          <a:xfrm>
            <a:off x="9187434" y="440436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27" name="Stat Points 4"/>
          <p:cNvSpPr txBox="1"/>
          <p:nvPr/>
        </p:nvSpPr>
        <p:spPr>
          <a:xfrm>
            <a:off x="9187434" y="4605528"/>
            <a:ext cx="2480310" cy="1338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低电量车不再排队过放</a:t>
            </a:r>
          </a:p>
        </p:txBody>
      </p:sp>
      <p:sp>
        <p:nvSpPr>
          <p:cNvPr id="28" name="Stat Source"/>
          <p:cNvSpPr txBox="1"/>
          <p:nvPr/>
        </p:nvSpPr>
        <p:spPr>
          <a:xfrm>
            <a:off x="512064" y="6080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月对比 9 月，A 仓 12 台；可用率为设备系统导出、不含计划保养</a:t>
            </a:r>
          </a:p>
        </p:txBody>
      </p:sp>
      <p:sp>
        <p:nvSpPr>
          <p:cNvPr id="29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6 月、9 月作业量相近，前后可比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 人完成试点，原班人马带 B 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试点团队 / TEAM</a:t>
            </a:r>
          </a:p>
        </p:txBody>
      </p:sp>
      <p:sp>
        <p:nvSpPr>
          <p:cNvPr id="4" name="Member Avatar 1"/>
          <p:cNvSpPr/>
          <p:nvPr/>
        </p:nvSpPr>
        <p:spPr>
          <a:xfrm>
            <a:off x="1266444" y="2432304"/>
            <a:ext cx="1280160" cy="1280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PingFang SC"/>
              </a:rPr>
              <a:t>林</a:t>
            </a:r>
          </a:p>
        </p:txBody>
      </p:sp>
      <p:sp>
        <p:nvSpPr>
          <p:cNvPr id="5" name="Member Name 1"/>
          <p:cNvSpPr txBox="1"/>
          <p:nvPr/>
        </p:nvSpPr>
        <p:spPr>
          <a:xfrm>
            <a:off x="694944" y="3941064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Arial"/>
                <a:ea typeface="PingFang SC"/>
              </a:rPr>
              <a:t>林晓</a:t>
            </a:r>
          </a:p>
        </p:txBody>
      </p:sp>
      <p:sp>
        <p:nvSpPr>
          <p:cNvPr id="6" name="Member Role 1"/>
          <p:cNvSpPr txBox="1"/>
          <p:nvPr/>
        </p:nvSpPr>
        <p:spPr>
          <a:xfrm>
            <a:off x="694944" y="4416552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项目负责人</a:t>
            </a:r>
          </a:p>
        </p:txBody>
      </p:sp>
      <p:cxnSp>
        <p:nvCxnSpPr>
          <p:cNvPr id="7" name="Member Rule 1"/>
          <p:cNvCxnSpPr/>
          <p:nvPr/>
        </p:nvCxnSpPr>
        <p:spPr>
          <a:xfrm>
            <a:off x="1586484" y="4855464"/>
            <a:ext cx="64008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8" name="Member Duty 1"/>
          <p:cNvSpPr txBox="1"/>
          <p:nvPr/>
        </p:nvSpPr>
        <p:spPr>
          <a:xfrm>
            <a:off x="694944" y="5038344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统筹试点与 B 仓推广</a:t>
            </a:r>
          </a:p>
        </p:txBody>
      </p:sp>
      <p:sp>
        <p:nvSpPr>
          <p:cNvPr id="9" name="Member Avatar 2"/>
          <p:cNvSpPr/>
          <p:nvPr/>
        </p:nvSpPr>
        <p:spPr>
          <a:xfrm>
            <a:off x="4055363" y="2432304"/>
            <a:ext cx="1280160" cy="1280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PingFang SC"/>
              </a:rPr>
              <a:t>周</a:t>
            </a:r>
          </a:p>
        </p:txBody>
      </p:sp>
      <p:sp>
        <p:nvSpPr>
          <p:cNvPr id="10" name="Member Name 2"/>
          <p:cNvSpPr txBox="1"/>
          <p:nvPr/>
        </p:nvSpPr>
        <p:spPr>
          <a:xfrm>
            <a:off x="3483863" y="3941064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Arial"/>
                <a:ea typeface="PingFang SC"/>
              </a:rPr>
              <a:t>周峻</a:t>
            </a:r>
          </a:p>
        </p:txBody>
      </p:sp>
      <p:sp>
        <p:nvSpPr>
          <p:cNvPr id="11" name="Member Role 2"/>
          <p:cNvSpPr txBox="1"/>
          <p:nvPr/>
        </p:nvSpPr>
        <p:spPr>
          <a:xfrm>
            <a:off x="3483863" y="4416552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系统配置</a:t>
            </a:r>
          </a:p>
        </p:txBody>
      </p:sp>
      <p:cxnSp>
        <p:nvCxnSpPr>
          <p:cNvPr id="12" name="Member Rule 2"/>
          <p:cNvCxnSpPr/>
          <p:nvPr/>
        </p:nvCxnSpPr>
        <p:spPr>
          <a:xfrm>
            <a:off x="4375404" y="4855464"/>
            <a:ext cx="640079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13" name="Member Duty 2"/>
          <p:cNvSpPr txBox="1"/>
          <p:nvPr/>
        </p:nvSpPr>
        <p:spPr>
          <a:xfrm>
            <a:off x="3483863" y="5038344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设备系统排班配置</a:t>
            </a:r>
          </a:p>
        </p:txBody>
      </p:sp>
      <p:sp>
        <p:nvSpPr>
          <p:cNvPr id="14" name="Member Avatar 3"/>
          <p:cNvSpPr/>
          <p:nvPr/>
        </p:nvSpPr>
        <p:spPr>
          <a:xfrm>
            <a:off x="6844284" y="2432304"/>
            <a:ext cx="1280160" cy="1280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PingFang SC"/>
              </a:rPr>
              <a:t>陈</a:t>
            </a:r>
          </a:p>
        </p:txBody>
      </p:sp>
      <p:sp>
        <p:nvSpPr>
          <p:cNvPr id="15" name="Member Name 3"/>
          <p:cNvSpPr txBox="1"/>
          <p:nvPr/>
        </p:nvSpPr>
        <p:spPr>
          <a:xfrm>
            <a:off x="6272784" y="3941064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Arial"/>
                <a:ea typeface="PingFang SC"/>
              </a:rPr>
              <a:t>陈蓉</a:t>
            </a:r>
          </a:p>
        </p:txBody>
      </p:sp>
      <p:sp>
        <p:nvSpPr>
          <p:cNvPr id="16" name="Member Role 3"/>
          <p:cNvSpPr txBox="1"/>
          <p:nvPr/>
        </p:nvSpPr>
        <p:spPr>
          <a:xfrm>
            <a:off x="6272784" y="4416552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班组长</a:t>
            </a:r>
          </a:p>
        </p:txBody>
      </p:sp>
      <p:cxnSp>
        <p:nvCxnSpPr>
          <p:cNvPr id="17" name="Member Rule 3"/>
          <p:cNvCxnSpPr/>
          <p:nvPr/>
        </p:nvCxnSpPr>
        <p:spPr>
          <a:xfrm>
            <a:off x="7164324" y="4855464"/>
            <a:ext cx="64008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18" name="Member Duty 3"/>
          <p:cNvSpPr txBox="1"/>
          <p:nvPr/>
        </p:nvSpPr>
        <p:spPr>
          <a:xfrm>
            <a:off x="6272784" y="5038344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早班执行与反馈</a:t>
            </a:r>
          </a:p>
        </p:txBody>
      </p:sp>
      <p:sp>
        <p:nvSpPr>
          <p:cNvPr id="19" name="Member Avatar 4"/>
          <p:cNvSpPr/>
          <p:nvPr/>
        </p:nvSpPr>
        <p:spPr>
          <a:xfrm>
            <a:off x="9633204" y="2432304"/>
            <a:ext cx="1280160" cy="1280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PingFang SC"/>
              </a:rPr>
              <a:t>吴</a:t>
            </a:r>
          </a:p>
        </p:txBody>
      </p:sp>
      <p:sp>
        <p:nvSpPr>
          <p:cNvPr id="20" name="Member Name 4"/>
          <p:cNvSpPr txBox="1"/>
          <p:nvPr/>
        </p:nvSpPr>
        <p:spPr>
          <a:xfrm>
            <a:off x="9061704" y="3941064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Arial"/>
                <a:ea typeface="PingFang SC"/>
              </a:rPr>
              <a:t>吴迪</a:t>
            </a:r>
          </a:p>
        </p:txBody>
      </p:sp>
      <p:sp>
        <p:nvSpPr>
          <p:cNvPr id="21" name="Member Role 4"/>
          <p:cNvSpPr txBox="1"/>
          <p:nvPr/>
        </p:nvSpPr>
        <p:spPr>
          <a:xfrm>
            <a:off x="9061704" y="4416552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数据统计</a:t>
            </a:r>
          </a:p>
        </p:txBody>
      </p:sp>
      <p:cxnSp>
        <p:nvCxnSpPr>
          <p:cNvPr id="22" name="Member Rule 4"/>
          <p:cNvCxnSpPr/>
          <p:nvPr/>
        </p:nvCxnSpPr>
        <p:spPr>
          <a:xfrm>
            <a:off x="9953244" y="4855464"/>
            <a:ext cx="64008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3" name="Member Duty 4"/>
          <p:cNvSpPr txBox="1"/>
          <p:nvPr/>
        </p:nvSpPr>
        <p:spPr>
          <a:xfrm>
            <a:off x="9061704" y="5038344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改前改后指标统计</a:t>
            </a:r>
          </a:p>
        </p:txBody>
      </p:sp>
      <p:sp>
        <p:nvSpPr>
          <p:cNvPr id="24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B 仓由林晓带队，陈蓉带教一周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 仓车位比与 A 仓相同，可直接沿用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 仓推广 / ROLLOUT</a:t>
            </a:r>
          </a:p>
        </p:txBody>
      </p:sp>
      <p:graphicFrame>
        <p:nvGraphicFramePr>
          <p:cNvPr id="4" name="Data Table"/>
          <p:cNvGraphicFramePr>
            <a:graphicFrameLocks noGrp="1"/>
          </p:cNvGraphicFramePr>
          <p:nvPr/>
        </p:nvGraphicFramePr>
        <p:xfrm>
          <a:off x="621792" y="2061971"/>
          <a:ext cx="11045949" cy="360273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81983"/>
                <a:gridCol w="3681983"/>
                <a:gridCol w="3681983"/>
              </a:tblGrid>
              <a:tr h="45034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项目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A 仓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B 仓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叉车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12 台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8 台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充电位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6 个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4 个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车位比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IT 配置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已完成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约 2 人日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新增采购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试运行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7–9 月，3 个月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11 月，1 个月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带教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—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陈蓉驻场 1 周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able Key Bar"/>
          <p:cNvSpPr/>
          <p:nvPr/>
        </p:nvSpPr>
        <p:spPr>
          <a:xfrm>
            <a:off x="512064" y="3412997"/>
            <a:ext cx="73152" cy="450342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B 仓条件与 A 仓一致，不需要新增采购</a:t>
            </a:r>
          </a:p>
        </p:txBody>
      </p:sp>
      <p:cxnSp>
        <p:nvCxnSpPr>
          <p:cNvPr id="8" name="Next Rule"/>
          <p:cNvCxnSpPr/>
          <p:nvPr/>
        </p:nvCxnSpPr>
        <p:spPr>
          <a:xfrm>
            <a:off x="512064" y="5943600"/>
            <a:ext cx="1115568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9" name="Next Line"/>
          <p:cNvSpPr txBox="1"/>
          <p:nvPr/>
        </p:nvSpPr>
        <p:spPr>
          <a:xfrm>
            <a:off x="512064" y="6016752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Next：</a:t>
            </a:r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申请批准 B 仓 11-01 起试运行 1 个月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85DA7-2483-AA4D-B923-1B659AF6C879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2015 template</vt:lpstr>
      <vt:lpstr>PowerPoint Presentation</vt:lpstr>
      <vt:lpstr>PowerPoint Presentation</vt:lpstr>
      <vt:lpstr>PowerPoint Presentation</vt:lpstr>
      <vt:lpstr>工作方式对比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Wattenbach, Brian</dc:creator>
  <cp:lastModifiedBy>逸韬 王</cp:lastModifiedBy>
  <cp:revision>7</cp:revision>
  <dcterms:created xsi:type="dcterms:W3CDTF">2025-03-12T16:17:19Z</dcterms:created>
  <dcterms:modified xsi:type="dcterms:W3CDTF">2026-05-20T02:28:11Z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