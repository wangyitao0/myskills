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188720"/>
            <a:ext cx="5486400" cy="1173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ide Number 1"/>
          <p:cNvSpPr txBox="1"/>
          <p:nvPr/>
        </p:nvSpPr>
        <p:spPr>
          <a:xfrm>
            <a:off x="786384" y="1188720"/>
            <a:ext cx="2651760" cy="1173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529584" y="1188720"/>
            <a:ext cx="228600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2590800"/>
            <a:ext cx="5486400" cy="1173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Side Accent 2"/>
          <p:cNvSpPr/>
          <p:nvPr/>
        </p:nvSpPr>
        <p:spPr>
          <a:xfrm>
            <a:off x="512064" y="2590800"/>
            <a:ext cx="73152" cy="1173480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Side Number 2"/>
          <p:cNvSpPr txBox="1"/>
          <p:nvPr/>
        </p:nvSpPr>
        <p:spPr>
          <a:xfrm>
            <a:off x="786384" y="2590800"/>
            <a:ext cx="2651760" cy="1173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529584" y="2590800"/>
            <a:ext cx="228600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3992880"/>
            <a:ext cx="5486400" cy="117348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Side Number 3"/>
          <p:cNvSpPr txBox="1"/>
          <p:nvPr/>
        </p:nvSpPr>
        <p:spPr>
          <a:xfrm>
            <a:off x="786384" y="3992880"/>
            <a:ext cx="2651760" cy="11734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529584" y="3992880"/>
            <a:ext cx="2286000" cy="1173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600"/>
              </a:spcBef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188720"/>
            <a:ext cx="5212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1664208"/>
            <a:ext cx="5212079" cy="9144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Side Points"/>
          <p:cNvSpPr txBox="1"/>
          <p:nvPr/>
        </p:nvSpPr>
        <p:spPr>
          <a:xfrm>
            <a:off x="6455664" y="1847088"/>
            <a:ext cx="5212079" cy="2697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1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2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  <a:p>
            <a:pPr>
              <a:spcBef>
                <a:spcPts val="1600"/>
              </a:spcBef>
            </a:pPr>
            <a:r>
              <a:rPr sz="1800" b="1">
                <a:solidFill>
                  <a:srgbClr val="6B6B6B"/>
                </a:solidFill>
                <a:latin typeface="Arial"/>
                <a:ea typeface="PingFang SC"/>
              </a:rPr>
              <a:t>3   </a:t>
            </a:r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12 台车共用 6 个充电位，需求集中在同一时段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4663440"/>
            <a:ext cx="5212079" cy="5029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1280160"/>
            <a:ext cx="24460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Process Strip 1"/>
          <p:cNvSpPr/>
          <p:nvPr/>
        </p:nvSpPr>
        <p:spPr>
          <a:xfrm>
            <a:off x="51206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Process Mark 1"/>
          <p:cNvSpPr txBox="1"/>
          <p:nvPr/>
        </p:nvSpPr>
        <p:spPr>
          <a:xfrm>
            <a:off x="1220724" y="3566160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01</a:t>
            </a:r>
          </a:p>
        </p:txBody>
      </p:sp>
      <p:sp>
        <p:nvSpPr>
          <p:cNvPr id="7" name="Process Text 1"/>
          <p:cNvSpPr txBox="1"/>
          <p:nvPr/>
        </p:nvSpPr>
        <p:spPr>
          <a:xfrm>
            <a:off x="786384" y="1691640"/>
            <a:ext cx="189737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1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按剩余电量排序，30 分钟一档</a:t>
            </a:r>
          </a:p>
        </p:txBody>
      </p:sp>
      <p:sp>
        <p:nvSpPr>
          <p:cNvPr id="8" name="Process Arrow 1"/>
          <p:cNvSpPr/>
          <p:nvPr/>
        </p:nvSpPr>
        <p:spPr>
          <a:xfrm>
            <a:off x="3086100" y="2994660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rocess Card 2"/>
          <p:cNvSpPr/>
          <p:nvPr/>
        </p:nvSpPr>
        <p:spPr>
          <a:xfrm>
            <a:off x="3415284" y="1280160"/>
            <a:ext cx="24460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Process Strip 2"/>
          <p:cNvSpPr/>
          <p:nvPr/>
        </p:nvSpPr>
        <p:spPr>
          <a:xfrm>
            <a:off x="341528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Process Mark 2"/>
          <p:cNvSpPr txBox="1"/>
          <p:nvPr/>
        </p:nvSpPr>
        <p:spPr>
          <a:xfrm>
            <a:off x="4123944" y="3566160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02</a:t>
            </a:r>
          </a:p>
        </p:txBody>
      </p:sp>
      <p:sp>
        <p:nvSpPr>
          <p:cNvPr id="12" name="Process Text 2"/>
          <p:cNvSpPr txBox="1"/>
          <p:nvPr/>
        </p:nvSpPr>
        <p:spPr>
          <a:xfrm>
            <a:off x="3689604" y="1691640"/>
            <a:ext cx="189737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2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时段发到手持终端，到点提醒</a:t>
            </a:r>
          </a:p>
        </p:txBody>
      </p:sp>
      <p:sp>
        <p:nvSpPr>
          <p:cNvPr id="13" name="Process Arrow 2"/>
          <p:cNvSpPr/>
          <p:nvPr/>
        </p:nvSpPr>
        <p:spPr>
          <a:xfrm>
            <a:off x="5989320" y="2994660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rocess Card 3"/>
          <p:cNvSpPr/>
          <p:nvPr/>
        </p:nvSpPr>
        <p:spPr>
          <a:xfrm>
            <a:off x="6318504" y="1280160"/>
            <a:ext cx="24460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Process Strip 3"/>
          <p:cNvSpPr/>
          <p:nvPr/>
        </p:nvSpPr>
        <p:spPr>
          <a:xfrm>
            <a:off x="631850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Process Mark 3"/>
          <p:cNvSpPr txBox="1"/>
          <p:nvPr/>
        </p:nvSpPr>
        <p:spPr>
          <a:xfrm>
            <a:off x="7027164" y="3566160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03</a:t>
            </a:r>
          </a:p>
        </p:txBody>
      </p:sp>
      <p:sp>
        <p:nvSpPr>
          <p:cNvPr id="17" name="Process Text 3"/>
          <p:cNvSpPr txBox="1"/>
          <p:nvPr/>
        </p:nvSpPr>
        <p:spPr>
          <a:xfrm>
            <a:off x="6592824" y="1691640"/>
            <a:ext cx="189737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3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电量低于 20% 的车直接插队</a:t>
            </a:r>
          </a:p>
        </p:txBody>
      </p:sp>
      <p:sp>
        <p:nvSpPr>
          <p:cNvPr id="18" name="Process Arrow 3"/>
          <p:cNvSpPr/>
          <p:nvPr/>
        </p:nvSpPr>
        <p:spPr>
          <a:xfrm>
            <a:off x="8892540" y="2994660"/>
            <a:ext cx="201168" cy="457200"/>
          </a:xfrm>
          <a:prstGeom prst="chevron">
            <a:avLst/>
          </a:prstGeom>
          <a:solidFill>
            <a:srgbClr val="BFBFB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Process Card 4"/>
          <p:cNvSpPr/>
          <p:nvPr/>
        </p:nvSpPr>
        <p:spPr>
          <a:xfrm>
            <a:off x="9221724" y="1280160"/>
            <a:ext cx="24460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rocess Strip 4"/>
          <p:cNvSpPr/>
          <p:nvPr/>
        </p:nvSpPr>
        <p:spPr>
          <a:xfrm>
            <a:off x="9221724" y="1280160"/>
            <a:ext cx="244602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rocess Mark 4"/>
          <p:cNvSpPr txBox="1"/>
          <p:nvPr/>
        </p:nvSpPr>
        <p:spPr>
          <a:xfrm>
            <a:off x="9930383" y="3566160"/>
            <a:ext cx="1600200" cy="146304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r"/>
            <a:r>
              <a:rPr sz="9600" b="1">
                <a:solidFill>
                  <a:srgbClr val="EDEDED"/>
                </a:solidFill>
                <a:latin typeface="Arial"/>
                <a:ea typeface="PingFang SC"/>
              </a:rPr>
              <a:t>04</a:t>
            </a:r>
          </a:p>
        </p:txBody>
      </p:sp>
      <p:sp>
        <p:nvSpPr>
          <p:cNvPr id="22" name="Process Text 4"/>
          <p:cNvSpPr txBox="1"/>
          <p:nvPr/>
        </p:nvSpPr>
        <p:spPr>
          <a:xfrm>
            <a:off x="9496044" y="1691640"/>
            <a:ext cx="189737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STEP 4</a:t>
            </a:r>
          </a:p>
          <a:p>
            <a:pPr>
              <a:spcBef>
                <a:spcPts val="600"/>
              </a:spcBef>
            </a:pPr>
            <a:r>
              <a:rPr sz="24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  <a:p>
            <a:pPr>
              <a:spcBef>
                <a:spcPts val="1200"/>
              </a:spcBef>
            </a:pPr>
            <a:r>
              <a:rPr sz="1800" b="0">
                <a:solidFill>
                  <a:srgbClr val="333333"/>
                </a:solidFill>
                <a:latin typeface="Arial"/>
                <a:ea typeface="PingFang SC"/>
              </a:rPr>
              <a:t>班组长每天查前一天执行率</a:t>
            </a:r>
          </a:p>
        </p:txBody>
      </p:sp>
      <p:sp>
        <p:nvSpPr>
          <p:cNvPr id="23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2161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2710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2161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2161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1887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1887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24612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02666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18028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188720"/>
            <a:ext cx="2480310" cy="7315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1810512"/>
            <a:ext cx="248031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2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295351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38 分钟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347472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3675887"/>
            <a:ext cx="248031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司机按推送时段到点充电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低电量车优先，不再排队等</a:t>
            </a:r>
          </a:p>
        </p:txBody>
      </p:sp>
      <p:sp>
        <p:nvSpPr>
          <p:cNvPr id="10" name="Stat Rule 2"/>
          <p:cNvSpPr/>
          <p:nvPr/>
        </p:nvSpPr>
        <p:spPr>
          <a:xfrm>
            <a:off x="340385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340385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3403854" y="1810512"/>
            <a:ext cx="248031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3403854" y="295351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81%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3403854" y="347472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3403854" y="3675887"/>
            <a:ext cx="248031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等待少了，在岗时间变长</a:t>
            </a:r>
          </a:p>
          <a:p>
            <a:pPr marL="320040" indent="-320040">
              <a:spcBef>
                <a:spcPts val="1000"/>
              </a:spcBef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不含计划保养时段</a:t>
            </a:r>
          </a:p>
        </p:txBody>
      </p:sp>
      <p:sp>
        <p:nvSpPr>
          <p:cNvPr id="16" name="Stat Rule 3"/>
          <p:cNvSpPr/>
          <p:nvPr/>
        </p:nvSpPr>
        <p:spPr>
          <a:xfrm>
            <a:off x="629564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629564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6295644" y="1810512"/>
            <a:ext cx="248031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6295644" y="295351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6 台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6295644" y="347472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6295644" y="3675887"/>
            <a:ext cx="248031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周报巡检未见 3 台以上同时排队</a:t>
            </a:r>
          </a:p>
        </p:txBody>
      </p:sp>
      <p:sp>
        <p:nvSpPr>
          <p:cNvPr id="22" name="Stat Rule 4"/>
          <p:cNvSpPr/>
          <p:nvPr/>
        </p:nvSpPr>
        <p:spPr>
          <a:xfrm>
            <a:off x="9187434" y="1188720"/>
            <a:ext cx="2480310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tat Label 4"/>
          <p:cNvSpPr txBox="1"/>
          <p:nvPr/>
        </p:nvSpPr>
        <p:spPr>
          <a:xfrm>
            <a:off x="9187434" y="1444752"/>
            <a:ext cx="248031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24" name="Stat Number 4"/>
          <p:cNvSpPr txBox="1"/>
          <p:nvPr/>
        </p:nvSpPr>
        <p:spPr>
          <a:xfrm>
            <a:off x="9187434" y="1810512"/>
            <a:ext cx="2480310" cy="10972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2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25" name="Stat Note 4"/>
          <p:cNvSpPr txBox="1"/>
          <p:nvPr/>
        </p:nvSpPr>
        <p:spPr>
          <a:xfrm>
            <a:off x="9187434" y="2953512"/>
            <a:ext cx="248031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6B6B"/>
                </a:solidFill>
                <a:latin typeface="Arial"/>
                <a:ea typeface="PingFang SC"/>
              </a:rPr>
              <a:t>6 月 9 次</a:t>
            </a:r>
          </a:p>
        </p:txBody>
      </p:sp>
      <p:cxnSp>
        <p:nvCxnSpPr>
          <p:cNvPr id="26" name="Stat Divider 4"/>
          <p:cNvCxnSpPr/>
          <p:nvPr/>
        </p:nvCxnSpPr>
        <p:spPr>
          <a:xfrm>
            <a:off x="9187434" y="3474720"/>
            <a:ext cx="2480310" cy="0"/>
          </a:xfrm>
          <a:prstGeom prst="line">
            <a:avLst/>
          </a:prstGeom>
          <a:ln w="9525">
            <a:solidFill>
              <a:srgbClr val="E5E5E5"/>
            </a:solidFill>
          </a:ln>
        </p:spPr>
      </p:cxnSp>
      <p:sp>
        <p:nvSpPr>
          <p:cNvPr id="27" name="Stat Points 4"/>
          <p:cNvSpPr txBox="1"/>
          <p:nvPr/>
        </p:nvSpPr>
        <p:spPr>
          <a:xfrm>
            <a:off x="9187434" y="3675887"/>
            <a:ext cx="2480310" cy="10789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320040" indent="-320040">
              <a:buFont typeface="Arial"/>
              <a:buChar char="•"/>
            </a:pPr>
            <a:r>
              <a:rPr sz="1600" b="0">
                <a:solidFill>
                  <a:srgbClr val="333333"/>
                </a:solidFill>
                <a:latin typeface="Arial"/>
                <a:ea typeface="PingFang SC"/>
              </a:rPr>
              <a:t>低电量车不再排队过放</a:t>
            </a:r>
          </a:p>
        </p:txBody>
      </p:sp>
      <p:sp>
        <p:nvSpPr>
          <p:cNvPr id="28" name="Stat Source"/>
          <p:cNvSpPr txBox="1"/>
          <p:nvPr/>
        </p:nvSpPr>
        <p:spPr>
          <a:xfrm>
            <a:off x="512064" y="48920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</a:t>
            </a:r>
          </a:p>
        </p:txBody>
      </p:sp>
      <p:sp>
        <p:nvSpPr>
          <p:cNvPr id="29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6 月、9 月作业量相近，前后可比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Card 1"/>
          <p:cNvSpPr/>
          <p:nvPr/>
        </p:nvSpPr>
        <p:spPr>
          <a:xfrm>
            <a:off x="512064" y="1805940"/>
            <a:ext cx="2583179" cy="2743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ember Strip 1"/>
          <p:cNvSpPr/>
          <p:nvPr/>
        </p:nvSpPr>
        <p:spPr>
          <a:xfrm>
            <a:off x="512064" y="1805940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Member Name 1"/>
          <p:cNvSpPr txBox="1"/>
          <p:nvPr/>
        </p:nvSpPr>
        <p:spPr>
          <a:xfrm>
            <a:off x="832104" y="2171700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7" name="Member Role 1"/>
          <p:cNvSpPr txBox="1"/>
          <p:nvPr/>
        </p:nvSpPr>
        <p:spPr>
          <a:xfrm>
            <a:off x="832104" y="2674620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8" name="Member Rule 1"/>
          <p:cNvCxnSpPr/>
          <p:nvPr/>
        </p:nvCxnSpPr>
        <p:spPr>
          <a:xfrm>
            <a:off x="832104" y="3177539"/>
            <a:ext cx="1943099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9" name="Member Duty 1"/>
          <p:cNvSpPr txBox="1"/>
          <p:nvPr/>
        </p:nvSpPr>
        <p:spPr>
          <a:xfrm>
            <a:off x="832104" y="3378708"/>
            <a:ext cx="194310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10" name="Member Card 2"/>
          <p:cNvSpPr/>
          <p:nvPr/>
        </p:nvSpPr>
        <p:spPr>
          <a:xfrm>
            <a:off x="3369563" y="1805940"/>
            <a:ext cx="2583179" cy="2743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Member Strip 2"/>
          <p:cNvSpPr/>
          <p:nvPr/>
        </p:nvSpPr>
        <p:spPr>
          <a:xfrm>
            <a:off x="3369563" y="1805940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Member Name 2"/>
          <p:cNvSpPr txBox="1"/>
          <p:nvPr/>
        </p:nvSpPr>
        <p:spPr>
          <a:xfrm>
            <a:off x="3689603" y="2171700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3" name="Member Role 2"/>
          <p:cNvSpPr txBox="1"/>
          <p:nvPr/>
        </p:nvSpPr>
        <p:spPr>
          <a:xfrm>
            <a:off x="3689603" y="2674620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4" name="Member Rule 2"/>
          <p:cNvCxnSpPr/>
          <p:nvPr/>
        </p:nvCxnSpPr>
        <p:spPr>
          <a:xfrm>
            <a:off x="3689603" y="3177539"/>
            <a:ext cx="1943101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5" name="Member Duty 2"/>
          <p:cNvSpPr txBox="1"/>
          <p:nvPr/>
        </p:nvSpPr>
        <p:spPr>
          <a:xfrm>
            <a:off x="3689603" y="3378708"/>
            <a:ext cx="194310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6" name="Member Card 3"/>
          <p:cNvSpPr/>
          <p:nvPr/>
        </p:nvSpPr>
        <p:spPr>
          <a:xfrm>
            <a:off x="6227063" y="1805940"/>
            <a:ext cx="2583179" cy="2743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ember Strip 3"/>
          <p:cNvSpPr/>
          <p:nvPr/>
        </p:nvSpPr>
        <p:spPr>
          <a:xfrm>
            <a:off x="6227063" y="1805940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ember Name 3"/>
          <p:cNvSpPr txBox="1"/>
          <p:nvPr/>
        </p:nvSpPr>
        <p:spPr>
          <a:xfrm>
            <a:off x="6547103" y="2171700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9" name="Member Role 3"/>
          <p:cNvSpPr txBox="1"/>
          <p:nvPr/>
        </p:nvSpPr>
        <p:spPr>
          <a:xfrm>
            <a:off x="6547103" y="2674620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20" name="Member Rule 3"/>
          <p:cNvCxnSpPr/>
          <p:nvPr/>
        </p:nvCxnSpPr>
        <p:spPr>
          <a:xfrm>
            <a:off x="6547103" y="3177539"/>
            <a:ext cx="19431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1" name="Member Duty 3"/>
          <p:cNvSpPr txBox="1"/>
          <p:nvPr/>
        </p:nvSpPr>
        <p:spPr>
          <a:xfrm>
            <a:off x="6547103" y="3378708"/>
            <a:ext cx="194310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22" name="Member Card 4"/>
          <p:cNvSpPr/>
          <p:nvPr/>
        </p:nvSpPr>
        <p:spPr>
          <a:xfrm>
            <a:off x="9084563" y="1805940"/>
            <a:ext cx="2583179" cy="274320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Member Strip 4"/>
          <p:cNvSpPr/>
          <p:nvPr/>
        </p:nvSpPr>
        <p:spPr>
          <a:xfrm>
            <a:off x="9084563" y="1805940"/>
            <a:ext cx="2583179" cy="73152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Member Name 4"/>
          <p:cNvSpPr txBox="1"/>
          <p:nvPr/>
        </p:nvSpPr>
        <p:spPr>
          <a:xfrm>
            <a:off x="9404603" y="2171700"/>
            <a:ext cx="19431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5" name="Member Role 4"/>
          <p:cNvSpPr txBox="1"/>
          <p:nvPr/>
        </p:nvSpPr>
        <p:spPr>
          <a:xfrm>
            <a:off x="9404603" y="2674620"/>
            <a:ext cx="19431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6" name="Member Rule 4"/>
          <p:cNvCxnSpPr/>
          <p:nvPr/>
        </p:nvCxnSpPr>
        <p:spPr>
          <a:xfrm>
            <a:off x="9404603" y="3177539"/>
            <a:ext cx="194310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7" name="Member Duty 4"/>
          <p:cNvSpPr txBox="1"/>
          <p:nvPr/>
        </p:nvSpPr>
        <p:spPr>
          <a:xfrm>
            <a:off x="9404603" y="3378708"/>
            <a:ext cx="1943100" cy="8503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8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1376172"/>
          <a:ext cx="11045949" cy="3602736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试运行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7–9 月，3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11 月，1 个月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450342"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带教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—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陈蓉驻场 1 周</a:t>
                      </a:r>
                    </a:p>
                  </a:txBody>
                  <a:tcPr marL="91440" marR="91440" marT="82296" marB="82296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2727198"/>
            <a:ext cx="73152" cy="450342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仓条件与 A 仓一致，不需要新增采购</a:t>
            </a:r>
          </a:p>
          <a:p>
            <a:r>
              <a:rPr lang="en-US" altLang="zh-CN" dirty="0"/>
              <a:t>Next: 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