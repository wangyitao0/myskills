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8"/>
  </p:notesMasterIdLst>
  <p:sldIdLst>
    <p:sldId id="256" r:id="rId7"/>
    <p:sldId id="257" r:id="rId6"/>
    <p:sldId id="258" r:id="rId5"/>
    <p:sldId id="259" r:id="rId15"/>
    <p:sldId id="260" r:id="rId16"/>
    <p:sldId id="261" r:id="rId17"/>
    <p:sldId id="262" r:id="rId18"/>
    <p:sldId id="26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B01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927820-B03C-435F-9827-65C866EC7EBE}" v="1" dt="2026-02-25T03:10:53.8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25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3.xml"/><Relationship Id="rId6" Type="http://schemas.openxmlformats.org/officeDocument/2006/relationships/slide" Target="slides/slide2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Relationship Id="rId14" Type="http://schemas.microsoft.com/office/2015/10/relationships/revisionInfo" Target="revisionInfo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ng Yi Tao (CN.MS-PIE) 王逸韬" userId="f2478d3e-731c-412b-9573-d7d8a124d225" providerId="ADAL" clId="{494E8C11-4D4E-4C2B-A295-50700AB3EC1D}"/>
    <pc:docChg chg="modSld delMainMaster">
      <pc:chgData name="David Wang Yi Tao (CN.MS-PIE) 王逸韬" userId="f2478d3e-731c-412b-9573-d7d8a124d225" providerId="ADAL" clId="{494E8C11-4D4E-4C2B-A295-50700AB3EC1D}" dt="2026-02-25T03:10:53.856" v="1"/>
      <pc:docMkLst>
        <pc:docMk/>
      </pc:docMkLst>
      <pc:sldChg chg="modSp">
        <pc:chgData name="David Wang Yi Tao (CN.MS-PIE) 王逸韬" userId="f2478d3e-731c-412b-9573-d7d8a124d225" providerId="ADAL" clId="{494E8C11-4D4E-4C2B-A295-50700AB3EC1D}" dt="2026-02-25T03:10:53.856" v="1"/>
        <pc:sldMkLst>
          <pc:docMk/>
          <pc:sldMk cId="3620478631" sldId="7834"/>
        </pc:sldMkLst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2" creationId="{E229DF9C-D0AF-BD29-290D-2CFFC1707D59}"/>
          </ac:spMkLst>
        </pc:spChg>
        <pc:spChg chg="mod">
          <ac:chgData name="David Wang Yi Tao (CN.MS-PIE) 王逸韬" userId="f2478d3e-731c-412b-9573-d7d8a124d225" providerId="ADAL" clId="{494E8C11-4D4E-4C2B-A295-50700AB3EC1D}" dt="2026-02-25T03:10:53.856" v="1"/>
          <ac:spMkLst>
            <pc:docMk/>
            <pc:sldMk cId="3620478631" sldId="7834"/>
            <ac:spMk id="4" creationId="{14A5351C-6542-F056-BBE4-0BADA95563B9}"/>
          </ac:spMkLst>
        </pc:spChg>
      </pc:sldChg>
      <pc:sldMasterChg chg="del">
        <pc:chgData name="David Wang Yi Tao (CN.MS-PIE) 王逸韬" userId="f2478d3e-731c-412b-9573-d7d8a124d225" providerId="ADAL" clId="{494E8C11-4D4E-4C2B-A295-50700AB3EC1D}" dt="2026-02-25T03:10:51.365" v="0" actId="2696"/>
        <pc:sldMasterMkLst>
          <pc:docMk/>
          <pc:sldMasterMk cId="837834762" sldId="2147483695"/>
        </pc:sldMasterMkLst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CE1F36-0BB3-4986-B8DB-265880AD27DE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DB73A-935A-4257-9CC0-0C7A90831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488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rgbClr val="DB01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12636506" y="1995489"/>
            <a:ext cx="184731" cy="502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667" dirty="0">
              <a:solidFill>
                <a:srgbClr val="000000"/>
              </a:solidFill>
            </a:endParaRPr>
          </a:p>
        </p:txBody>
      </p:sp>
      <p:grpSp>
        <p:nvGrpSpPr>
          <p:cNvPr id="6" name="Group 6"/>
          <p:cNvGrpSpPr>
            <a:grpSpLocks/>
          </p:cNvGrpSpPr>
          <p:nvPr/>
        </p:nvGrpSpPr>
        <p:grpSpPr bwMode="auto">
          <a:xfrm>
            <a:off x="2133600" y="1374776"/>
            <a:ext cx="7721600" cy="2625725"/>
            <a:chOff x="576" y="986"/>
            <a:chExt cx="4608" cy="1654"/>
          </a:xfrm>
        </p:grpSpPr>
        <p:sp>
          <p:nvSpPr>
            <p:cNvPr id="7" name="Line 7"/>
            <p:cNvSpPr>
              <a:spLocks noChangeShapeType="1"/>
            </p:cNvSpPr>
            <p:nvPr userDrawn="1"/>
          </p:nvSpPr>
          <p:spPr bwMode="auto">
            <a:xfrm>
              <a:off x="576" y="2640"/>
              <a:ext cx="46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en-US" sz="2400" dirty="0">
                <a:solidFill>
                  <a:srgbClr val="000000"/>
                </a:solidFill>
              </a:endParaRPr>
            </a:p>
          </p:txBody>
        </p:sp>
        <p:pic>
          <p:nvPicPr>
            <p:cNvPr id="8" name="Picture 8" descr="NBHD and Logo_stacked_alt"/>
            <p:cNvPicPr>
              <a:picLocks noChangeAspect="1" noChangeArrowheads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9" y="986"/>
              <a:ext cx="3744" cy="14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88067" name="Rectangle 3"/>
          <p:cNvSpPr>
            <a:spLocks noGrp="1" noChangeArrowheads="1"/>
          </p:cNvSpPr>
          <p:nvPr>
            <p:ph type="ctrTitle"/>
          </p:nvPr>
        </p:nvSpPr>
        <p:spPr>
          <a:xfrm>
            <a:off x="914400" y="4419600"/>
            <a:ext cx="10363200" cy="457200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90000"/>
              </a:lnSpc>
              <a:defRPr sz="293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4953000"/>
            <a:ext cx="8534400" cy="4572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charset="2"/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</p:spTree>
    <p:extLst>
      <p:ext uri="{BB962C8B-B14F-4D97-AF65-F5344CB8AC3E}">
        <p14:creationId xmlns:p14="http://schemas.microsoft.com/office/powerpoint/2010/main" val="3298321180"/>
      </p:ext>
    </p:extLst>
  </p:cSld>
  <p:clrMapOvr>
    <a:masterClrMapping/>
  </p:clrMapOvr>
  <p:transition>
    <p:fade thruBlk="1"/>
  </p:transition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 Slide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508000" y="1295400"/>
            <a:ext cx="11379200" cy="5257800"/>
          </a:xfrm>
          <a:prstGeom prst="rect">
            <a:avLst/>
          </a:prstGeom>
        </p:spPr>
        <p:txBody>
          <a:bodyPr/>
          <a:lstStyle>
            <a:lvl1pPr marL="457189" indent="-457189">
              <a:buClr>
                <a:srgbClr val="E31937"/>
              </a:buClr>
              <a:buFont typeface="Wingdings" panose="05000000000000000000" pitchFamily="2" charset="2"/>
              <a:buChar char="§"/>
              <a:defRPr sz="3200" b="1">
                <a:latin typeface="+mn-lt"/>
              </a:defRPr>
            </a:lvl1pPr>
            <a:lvl2pPr marL="990575" indent="-380990">
              <a:buClr>
                <a:srgbClr val="E31937"/>
              </a:buClr>
              <a:buFont typeface="Wingdings" panose="05000000000000000000" pitchFamily="2" charset="2"/>
              <a:buChar char="§"/>
              <a:defRPr sz="2667">
                <a:latin typeface="+mn-lt"/>
              </a:defRPr>
            </a:lvl2pPr>
            <a:lvl3pPr marL="1523962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2400">
                <a:latin typeface="+mn-lt"/>
              </a:defRPr>
            </a:lvl3pPr>
            <a:lvl4pPr marL="2133547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4pPr>
            <a:lvl5pPr marL="2743131" indent="-304792">
              <a:buClr>
                <a:srgbClr val="E31937"/>
              </a:buClr>
              <a:buFont typeface="Wingdings" panose="05000000000000000000" pitchFamily="2" charset="2"/>
              <a:buChar char="§"/>
              <a:defRPr sz="1867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Secondary Title</a:t>
            </a:r>
          </a:p>
          <a:p>
            <a:pPr lvl="4"/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ADD PRIMARY TITLE</a:t>
            </a:r>
          </a:p>
        </p:txBody>
      </p:sp>
    </p:spTree>
    <p:extLst>
      <p:ext uri="{BB962C8B-B14F-4D97-AF65-F5344CB8AC3E}">
        <p14:creationId xmlns:p14="http://schemas.microsoft.com/office/powerpoint/2010/main" val="3824030123"/>
      </p:ext>
    </p:extLst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fore / Af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21" name="Before Frame"/>
          <p:cNvSpPr txBox="1">
            <a:spLocks noGrp="1"/>
          </p:cNvSpPr>
          <p:nvPr/>
        </p:nvSpPr>
        <p:spPr>
          <a:xfrm>
            <a:off x="512064" y="2331720"/>
            <a:ext cx="5349240" cy="3081528"/>
          </a:xfrm>
          <a:prstGeom prst="rect">
            <a:avLst/>
          </a:prstGeom>
          <a:solidFill>
            <a:srgbClr val="F5F5F5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2" name="After Frame"/>
          <p:cNvSpPr txBox="1">
            <a:spLocks noGrp="1"/>
          </p:cNvSpPr>
          <p:nvPr/>
        </p:nvSpPr>
        <p:spPr>
          <a:xfrm>
            <a:off x="6327648" y="2331720"/>
            <a:ext cx="5349240" cy="3081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0D0"/>
            </a:solidFill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0">
                <a:solidFill>
                  <a:srgbClr val="1A1A1A"/>
                </a:solidFill>
                <a:latin typeface="Arial"/>
                <a:ea typeface="PingFang SC"/>
              </a:rPr>
              <a:t/>
            </a:r>
          </a:p>
        </p:txBody>
      </p:sp>
      <p:sp>
        <p:nvSpPr>
          <p:cNvPr id="23" name="Conversion"/>
          <p:cNvSpPr txBox="1">
            <a:spLocks noGrp="1"/>
          </p:cNvSpPr>
          <p:nvPr/>
        </p:nvSpPr>
        <p:spPr>
          <a:xfrm>
            <a:off x="5879592" y="3584448"/>
            <a:ext cx="429768" cy="45720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0" rIns="0" tIns="0" bIns="0">
            <a:noAutofit/>
          </a:bodyPr>
          <a:lstStyle>
            <a:lvl1pPr marL="0" indent="0" algn="ctr">
              <a:buNone/>
              <a:defRPr sz="2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400" b="0">
                <a:solidFill>
                  <a:srgbClr val="6B6B6B"/>
                </a:solidFill>
                <a:latin typeface="Arial"/>
                <a:ea typeface="PingFang SC"/>
              </a:rPr>
              <a:t>→</a:t>
            </a:r>
          </a:p>
        </p:txBody>
      </p:sp>
      <p:sp>
        <p:nvSpPr>
          <p:cNvPr id="25" name="Before Title"/>
          <p:cNvSpPr txBox="1">
            <a:spLocks noGrp="1"/>
          </p:cNvSpPr>
          <p:nvPr>
            <p:ph type="body" idx="11" hasCustomPrompt="1"/>
          </p:nvPr>
        </p:nvSpPr>
        <p:spPr>
          <a:xfrm>
            <a:off x="1860804" y="1792224"/>
            <a:ext cx="2651760" cy="393192"/>
          </a:xfrm>
          <a:prstGeom prst="rect">
            <a:avLst/>
          </a:prstGeom>
          <a:solidFill>
            <a:srgbClr val="333333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BEFORE</a:t>
            </a:r>
          </a:p>
        </p:txBody>
      </p:sp>
      <p:sp>
        <p:nvSpPr>
          <p:cNvPr id="26" name="After Title"/>
          <p:cNvSpPr txBox="1">
            <a:spLocks noGrp="1"/>
          </p:cNvSpPr>
          <p:nvPr>
            <p:ph type="body" idx="12" hasCustomPrompt="1"/>
          </p:nvPr>
        </p:nvSpPr>
        <p:spPr>
          <a:xfrm>
            <a:off x="7676388" y="1792224"/>
            <a:ext cx="2651760" cy="393192"/>
          </a:xfrm>
          <a:prstGeom prst="rect">
            <a:avLst/>
          </a:prstGeom>
          <a:solidFill>
            <a:srgbClr val="DB011C"/>
          </a:solidFill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2300" b="1">
                <a:solidFill>
                  <a:srgbClr val="FFFFFF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2300" b="1">
                <a:solidFill>
                  <a:srgbClr val="FFFFFF"/>
                </a:solidFill>
                <a:latin typeface="Arial"/>
                <a:ea typeface="PingFang SC"/>
              </a:rPr>
              <a:t>AFTER</a:t>
            </a:r>
          </a:p>
        </p:txBody>
      </p:sp>
      <p:sp>
        <p:nvSpPr>
          <p:cNvPr id="27" name="Before Content"/>
          <p:cNvSpPr txBox="1">
            <a:spLocks noGrp="1"/>
          </p:cNvSpPr>
          <p:nvPr>
            <p:ph type="body" idx="13" hasCustomPrompt="1"/>
          </p:nvPr>
        </p:nvSpPr>
        <p:spPr>
          <a:xfrm>
            <a:off x="713232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改前工作方式</a:t>
            </a:r>
          </a:p>
        </p:txBody>
      </p:sp>
      <p:sp>
        <p:nvSpPr>
          <p:cNvPr id="28" name="After Content"/>
          <p:cNvSpPr txBox="1">
            <a:spLocks noGrp="1"/>
          </p:cNvSpPr>
          <p:nvPr>
            <p:ph type="body" idx="14" hasCustomPrompt="1"/>
          </p:nvPr>
        </p:nvSpPr>
        <p:spPr>
          <a:xfrm>
            <a:off x="6528816" y="2542032"/>
            <a:ext cx="4946904" cy="2660904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ctr">
              <a:buNone/>
              <a:defRPr sz="18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pPr lvl="0" algn="ctr"/>
            <a:r>
              <a:rPr lang="zh-CN" sz="1800" b="0">
                <a:solidFill>
                  <a:srgbClr val="6B6B6B"/>
                </a:solidFill>
                <a:latin typeface="Arial"/>
                <a:ea typeface="PingFang SC"/>
              </a:rPr>
              <a:t>改后工作方式</a:t>
            </a:r>
          </a:p>
        </p:txBody>
      </p:sp>
      <p:sp>
        <p:nvSpPr>
          <p:cNvPr id="29" name="Before Caption"/>
          <p:cNvSpPr txBox="1">
            <a:spLocks noGrp="1"/>
          </p:cNvSpPr>
          <p:nvPr>
            <p:ph type="body" idx="15" hasCustomPrompt="1"/>
          </p:nvPr>
        </p:nvSpPr>
        <p:spPr>
          <a:xfrm>
            <a:off x="512064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  <p:sp>
        <p:nvSpPr>
          <p:cNvPr id="30" name="After Caption"/>
          <p:cNvSpPr txBox="1">
            <a:spLocks noGrp="1"/>
          </p:cNvSpPr>
          <p:nvPr>
            <p:ph type="body" idx="16" hasCustomPrompt="1"/>
          </p:nvPr>
        </p:nvSpPr>
        <p:spPr>
          <a:xfrm>
            <a:off x="6327648" y="5596128"/>
            <a:ext cx="5349240" cy="320040"/>
          </a:xfrm>
          <a:prstGeom prst="rect">
            <a:avLst/>
          </a:prstGeom>
          <a:noFill/>
          <a:ln w="12700">
            <a:noFill/>
          </a:ln>
        </p:spPr>
        <p:txBody>
          <a:bodyPr wrap="none" anchor="ctr" lIns="54864" rIns="54864" tIns="0" bIns="0">
            <a:noAutofit/>
          </a:bodyPr>
          <a:lstStyle>
            <a:lvl1pPr marL="0" indent="0" algn="l">
              <a:buNone/>
              <a:defRPr sz="1600" b="1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pPr lvl="0" algn="l"/>
            <a:r>
              <a:rPr lang="zh-CN" sz="1600" b="1">
                <a:solidFill>
                  <a:srgbClr val="1A1A1A"/>
                </a:solidFill>
                <a:latin typeface="Arial"/>
                <a:ea typeface="PingFang SC"/>
              </a:rPr>
              <a:t>一句说明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Process Area"/>
          <p:cNvSpPr>
            <a:spLocks noGrp="1"/>
          </p:cNvSpPr>
          <p:nvPr>
            <p:ph type="body" sz="quarter" idx="17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流程区：生成器按步骤数（3–5）等分绘制卡片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Stats Area"/>
          <p:cNvSpPr>
            <a:spLocks noGrp="1"/>
          </p:cNvSpPr>
          <p:nvPr>
            <p:ph type="body" sz="quarter" idx="18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数据区：生成器按条目数（2–4）等分绘制数据卡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Timeline Area"/>
          <p:cNvSpPr>
            <a:spLocks noGrp="1"/>
          </p:cNvSpPr>
          <p:nvPr>
            <p:ph type="body" sz="quarter" idx="19" hasCustomPrompt="1"/>
          </p:nvPr>
        </p:nvSpPr>
        <p:spPr>
          <a:xfrm>
            <a:off x="512064" y="1188720"/>
            <a:ext cx="11164824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时间线区：生成器按节点数（3–6）等距绘制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44601" y="457200"/>
            <a:ext cx="7543800" cy="381000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500" b="0">
                <a:solidFill>
                  <a:schemeClr val="bg1"/>
                </a:solidFill>
                <a:latin typeface="+mj-lt"/>
              </a:defRPr>
            </a:lvl1pPr>
            <a:lvl5pPr algn="r">
              <a:lnSpc>
                <a:spcPct val="150000"/>
              </a:lnSpc>
              <a:defRPr sz="1500" b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Secondary Title</a:t>
            </a:r>
          </a:p>
          <a:p>
            <a:pPr lvl="4"/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4644601" y="87850"/>
            <a:ext cx="7543800" cy="369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 spc="0">
                <a:solidFill>
                  <a:srgbClr val="F3F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ADD PRIMARY TITLE</a:t>
            </a:r>
          </a:p>
        </p:txBody>
      </p:sp>
      <p:sp>
        <p:nvSpPr>
          <p:cNvPr id="8" name="Image Frame"/>
          <p:cNvSpPr>
            <a:spLocks noGrp="1"/>
          </p:cNvSpPr>
          <p:nvPr>
            <p:ph type="body" sz="quarter" idx="20" hasCustomPrompt="1"/>
          </p:nvPr>
        </p:nvSpPr>
        <p:spPr>
          <a:xfrm>
            <a:off x="512064" y="1188720"/>
            <a:ext cx="6986016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0" indent="0" algn="ctr">
              <a:spcBef>
                <a:spcPts val="0"/>
              </a:spcBef>
              <a:buNone/>
              <a:defRPr sz="1400" b="0">
                <a:solidFill>
                  <a:srgbClr val="6B6B6B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图框（16:9）：图片等比缩放、居中，不裁切</a:t>
            </a:r>
          </a:p>
        </p:txBody>
      </p:sp>
      <p:sp>
        <p:nvSpPr>
          <p:cNvPr id="9" name="Text Area"/>
          <p:cNvSpPr>
            <a:spLocks noGrp="1"/>
          </p:cNvSpPr>
          <p:nvPr>
            <p:ph type="body" sz="quarter" idx="21" hasCustomPrompt="1"/>
          </p:nvPr>
        </p:nvSpPr>
        <p:spPr>
          <a:xfrm>
            <a:off x="7772400" y="1188720"/>
            <a:ext cx="3904488" cy="3931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>
            <a:lvl1pPr marL="228600" indent="-228600"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  <a:buClr>
                <a:srgbClr val="6B6B6B"/>
              </a:buClr>
              <a:buSzPct val="100000"/>
              <a:buFont typeface="Arial"/>
              <a:buChar char="•"/>
              <a:defRPr sz="1600" b="0">
                <a:solidFill>
                  <a:srgbClr val="1A1A1A"/>
                </a:solidFill>
                <a:latin typeface="Arial"/>
                <a:ea typeface="PingFang SC"/>
              </a:defRPr>
            </a:lvl1pPr>
          </a:lstStyle>
          <a:p>
            <a:r>
              <a:rPr lang="zh-CN" dirty="0"/>
              <a:t>要点（建议不超过 5 条）</a:t>
            </a:r>
          </a:p>
        </p:txBody>
      </p:sp>
    </p:spTree>
    <p:extLst>
      <p:ext uri="{BB962C8B-B14F-4D97-AF65-F5344CB8AC3E}">
        <p14:creationId xmlns:p14="http://schemas.microsoft.com/office/powerpoint/2010/main" val="864985971"/>
      </p:ext>
    </p:extLst>
  </p:cSld>
  <p:clrMapOvr>
    <a:masterClrMapping/>
  </p:clrMapOvr>
  <p:transition>
    <p:fade thruBlk="1"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png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ext Box 2"/>
          <p:cNvSpPr txBox="1">
            <a:spLocks noChangeArrowheads="1"/>
          </p:cNvSpPr>
          <p:nvPr/>
        </p:nvSpPr>
        <p:spPr bwMode="auto">
          <a:xfrm>
            <a:off x="0" y="6629403"/>
            <a:ext cx="12192000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indent="0" algn="l" defTabSz="1219170" rtl="0" eaLnBrk="0" fontAlgn="base" latinLnBrk="0" hangingPunct="0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800" b="1" dirty="0">
                <a:solidFill>
                  <a:schemeClr val="bg1">
                    <a:lumMod val="50000"/>
                  </a:schemeClr>
                </a:solidFill>
              </a:rPr>
              <a:t>Confidential Document 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Property of MILWAUKEE </a:t>
            </a:r>
            <a:r>
              <a:rPr lang="en-US" sz="800" baseline="0" dirty="0">
                <a:solidFill>
                  <a:schemeClr val="bg1">
                    <a:lumMod val="50000"/>
                  </a:schemeClr>
                </a:solidFill>
              </a:rPr>
              <a:t>TOOL</a:t>
            </a:r>
            <a:r>
              <a:rPr lang="en-US" sz="800" dirty="0">
                <a:solidFill>
                  <a:schemeClr val="bg1">
                    <a:lumMod val="50000"/>
                  </a:schemeClr>
                </a:solidFill>
              </a:rPr>
              <a:t> Brookfield, Wisconsin 53005 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0" y="1"/>
            <a:ext cx="12192000" cy="914400"/>
          </a:xfrm>
          <a:prstGeom prst="rect">
            <a:avLst/>
          </a:prstGeom>
          <a:solidFill>
            <a:srgbClr val="DB011C"/>
          </a:solidFill>
          <a:ln w="9525">
            <a:noFill/>
            <a:miter lim="800000"/>
            <a:headEnd/>
            <a:tailEnd/>
          </a:ln>
          <a:effectLst>
            <a:outerShdw blurRad="63500" dist="26940" dir="5400000" algn="ctr" rotWithShape="0">
              <a:schemeClr val="bg2">
                <a:alpha val="75000"/>
              </a:schemeClr>
            </a:outerShdw>
          </a:effec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2400" dirty="0">
              <a:solidFill>
                <a:srgbClr val="00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76199"/>
            <a:ext cx="1676400" cy="751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003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7" r:id="rId2"/>
    <p:sldLayoutId id="2147483688" r:id="rId3"/>
    <p:sldLayoutId id="2147483689" r:id="rId6"/>
    <p:sldLayoutId id="2147483690" r:id="rId7"/>
    <p:sldLayoutId id="2147483691" r:id="rId8"/>
    <p:sldLayoutId id="2147483692" r:id="rId9"/>
    <p:sldLayoutId id="2147483693" r:id="rId10"/>
  </p:sldLayoutIdLst>
  <p:transition>
    <p:fade thruBlk="1"/>
  </p:transition>
  <p:txStyles>
    <p:titleStyle>
      <a:lvl1pPr algn="r" rtl="0" eaLnBrk="1" fontAlgn="base" hangingPunct="1">
        <a:spcBef>
          <a:spcPct val="0"/>
        </a:spcBef>
        <a:spcAft>
          <a:spcPct val="0"/>
        </a:spcAft>
        <a:defRPr sz="3200" b="1" baseline="0">
          <a:solidFill>
            <a:srgbClr val="F3F3F3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2pPr>
      <a:lvl3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3pPr>
      <a:lvl4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4pPr>
      <a:lvl5pPr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5pPr>
      <a:lvl6pPr marL="609585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6pPr>
      <a:lvl7pPr marL="1219170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7pPr>
      <a:lvl8pPr marL="1828754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8pPr>
      <a:lvl9pPr marL="2438339" algn="r" rtl="0" eaLnBrk="1" fontAlgn="base" hangingPunct="1">
        <a:spcBef>
          <a:spcPct val="0"/>
        </a:spcBef>
        <a:spcAft>
          <a:spcPct val="0"/>
        </a:spcAft>
        <a:defRPr sz="2667">
          <a:solidFill>
            <a:srgbClr val="F3F3F3"/>
          </a:solidFill>
          <a:latin typeface="Arial Black" charset="0"/>
          <a:ea typeface="ＭＳ Ｐゴシック" charset="-128"/>
          <a:cs typeface="ＭＳ Ｐゴシック" charset="-128"/>
        </a:defRPr>
      </a:lvl9pPr>
    </p:titleStyle>
    <p:bodyStyle>
      <a:lvl1pPr marL="457189" indent="-457189" algn="l" rtl="0" eaLnBrk="1" fontAlgn="base" hangingPunct="1">
        <a:spcBef>
          <a:spcPct val="20000"/>
        </a:spcBef>
        <a:spcAft>
          <a:spcPct val="0"/>
        </a:spcAft>
        <a:buClr>
          <a:srgbClr val="C2112D"/>
        </a:buClr>
        <a:buSzPct val="120000"/>
        <a:buFont typeface="Wingdings" charset="2"/>
        <a:buChar char="§"/>
        <a:defRPr sz="3733">
          <a:solidFill>
            <a:schemeClr val="tx1"/>
          </a:solidFill>
          <a:latin typeface="Calibri" panose="020F0502020204030204" pitchFamily="34" charset="0"/>
          <a:ea typeface="+mn-ea"/>
          <a:cs typeface="+mn-cs"/>
        </a:defRPr>
      </a:lvl1pPr>
      <a:lvl2pPr marL="990575" indent="-380990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3200">
          <a:solidFill>
            <a:schemeClr val="tx1"/>
          </a:solidFill>
          <a:latin typeface="Calibri" panose="020F0502020204030204" pitchFamily="34" charset="0"/>
          <a:ea typeface="+mn-ea"/>
        </a:defRPr>
      </a:lvl2pPr>
      <a:lvl3pPr marL="1523962" indent="-304792" algn="l" rtl="0" eaLnBrk="1" fontAlgn="base" hangingPunct="1">
        <a:spcBef>
          <a:spcPct val="20000"/>
        </a:spcBef>
        <a:spcAft>
          <a:spcPct val="0"/>
        </a:spcAft>
        <a:buClr>
          <a:srgbClr val="E31937"/>
        </a:buClr>
        <a:buSzPct val="120000"/>
        <a:buFont typeface="Wingdings" charset="2"/>
        <a:buChar char="§"/>
        <a:defRPr sz="2667">
          <a:solidFill>
            <a:schemeClr val="tx1"/>
          </a:solidFill>
          <a:latin typeface="Calibri" panose="020F0502020204030204" pitchFamily="34" charset="0"/>
          <a:ea typeface="+mn-ea"/>
        </a:defRPr>
      </a:lvl3pPr>
      <a:lvl4pPr marL="2133547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–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4pPr>
      <a:lvl5pPr marL="274313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2133">
          <a:solidFill>
            <a:schemeClr val="tx1"/>
          </a:solidFill>
          <a:latin typeface="Calibri" panose="020F0502020204030204" pitchFamily="34" charset="0"/>
          <a:ea typeface="+mn-ea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lr>
          <a:srgbClr val="C8092C"/>
        </a:buClr>
        <a:buSzPct val="120000"/>
        <a:buChar char="»"/>
        <a:defRPr sz="1867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 仓叉车充电排班试点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>
            <a:r>
              <a:t>试点总结与 B 仓推广申请</a:t>
            </a:r>
          </a:p>
          <a:p>
            <a:r>
              <a:t>2026-10-17   林晓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早高峰扎堆充电，每台车日均等 38 分钟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早高峰排队 / PROBLEM</a:t>
            </a:r>
          </a:p>
        </p:txBody>
      </p:sp>
      <p:sp>
        <p:nvSpPr>
          <p:cNvPr id="4" name="Side Card 1"/>
          <p:cNvSpPr/>
          <p:nvPr/>
        </p:nvSpPr>
        <p:spPr>
          <a:xfrm>
            <a:off x="512064" y="118872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5" name="Side Number 1"/>
          <p:cNvSpPr txBox="1"/>
          <p:nvPr/>
        </p:nvSpPr>
        <p:spPr>
          <a:xfrm>
            <a:off x="740664" y="118872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6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6" name="Side Text 1"/>
          <p:cNvSpPr txBox="1"/>
          <p:nvPr/>
        </p:nvSpPr>
        <p:spPr>
          <a:xfrm>
            <a:off x="3118104" y="118872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日均同时排队</a:t>
            </a:r>
          </a:p>
        </p:txBody>
      </p:sp>
      <p:sp>
        <p:nvSpPr>
          <p:cNvPr id="7" name="Side Card 2"/>
          <p:cNvSpPr/>
          <p:nvPr/>
        </p:nvSpPr>
        <p:spPr>
          <a:xfrm>
            <a:off x="512064" y="259080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8" name="Side Accent 2"/>
          <p:cNvSpPr/>
          <p:nvPr/>
        </p:nvSpPr>
        <p:spPr>
          <a:xfrm>
            <a:off x="512064" y="2590800"/>
            <a:ext cx="54864" cy="1127760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9" name="Side Number 2"/>
          <p:cNvSpPr txBox="1"/>
          <p:nvPr/>
        </p:nvSpPr>
        <p:spPr>
          <a:xfrm>
            <a:off x="740664" y="259080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38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10" name="Side Text 2"/>
          <p:cNvSpPr txBox="1"/>
          <p:nvPr/>
        </p:nvSpPr>
        <p:spPr>
          <a:xfrm>
            <a:off x="3118104" y="259080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每台日均</a:t>
            </a:r>
          </a:p>
        </p:txBody>
      </p:sp>
      <p:sp>
        <p:nvSpPr>
          <p:cNvPr id="11" name="Side Card 3"/>
          <p:cNvSpPr/>
          <p:nvPr/>
        </p:nvSpPr>
        <p:spPr>
          <a:xfrm>
            <a:off x="512064" y="3992880"/>
            <a:ext cx="5486400" cy="1127760"/>
          </a:xfrm>
          <a:prstGeom prst="rect">
            <a:avLst/>
          </a:prstGeom>
          <a:solidFill>
            <a:srgbClr val="F5F5F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2" name="Side Number 3"/>
          <p:cNvSpPr txBox="1"/>
          <p:nvPr/>
        </p:nvSpPr>
        <p:spPr>
          <a:xfrm>
            <a:off x="740664" y="3992880"/>
            <a:ext cx="2286000" cy="112776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9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13" name="Side Text 3"/>
          <p:cNvSpPr txBox="1"/>
          <p:nvPr/>
        </p:nvSpPr>
        <p:spPr>
          <a:xfrm>
            <a:off x="3118104" y="3992880"/>
            <a:ext cx="2697480" cy="1127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  <a:p>
            <a:pPr>
              <a:spcBef>
                <a:spcPts val="4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月过放、温度告警</a:t>
            </a:r>
          </a:p>
        </p:txBody>
      </p:sp>
      <p:sp>
        <p:nvSpPr>
          <p:cNvPr id="14" name="Side Conclusion Title"/>
          <p:cNvSpPr txBox="1"/>
          <p:nvPr/>
        </p:nvSpPr>
        <p:spPr>
          <a:xfrm>
            <a:off x="6455664" y="1188720"/>
            <a:ext cx="522122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6 月现状</a:t>
            </a:r>
          </a:p>
        </p:txBody>
      </p:sp>
      <p:sp>
        <p:nvSpPr>
          <p:cNvPr id="15" name="Side Conclusion Rule"/>
          <p:cNvSpPr/>
          <p:nvPr/>
        </p:nvSpPr>
        <p:spPr>
          <a:xfrm>
            <a:off x="6455664" y="1645920"/>
            <a:ext cx="5221224" cy="12700"/>
          </a:xfrm>
          <a:prstGeom prst="rect">
            <a:avLst/>
          </a:prstGeom>
          <a:solidFill>
            <a:srgbClr val="E5E5E5"/>
          </a:solidFill>
          <a:ln>
            <a:noFill/>
          </a:ln>
          <a:effectLst/>
        </p:spPr>
        <p:txBody>
          <a:bodyPr rtlCol="0" anchor="ctr"/>
          <a:lstStyle/>
          <a:p>
            <a:pPr algn="l"/>
          </a:p>
        </p:txBody>
      </p:sp>
      <p:sp>
        <p:nvSpPr>
          <p:cNvPr id="16" name="Side Points"/>
          <p:cNvSpPr txBox="1"/>
          <p:nvPr/>
        </p:nvSpPr>
        <p:spPr>
          <a:xfrm>
            <a:off x="6455664" y="1828800"/>
            <a:ext cx="5221224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marL="284480" indent="-284480">
              <a:lnSpc>
                <a:spcPct val="115000"/>
              </a:lnSpc>
              <a:buClr>
                <a:srgbClr val="6B6B6B"/>
              </a:buClr>
              <a:buFont typeface="Arial"/>
              <a:buAutoNum type="arabicPlain"/>
            </a:pPr>
            <a:r>
              <a:rPr sz="1600" b="0">
                <a:solidFill>
                  <a:srgbClr val="1A1A1A"/>
                </a:solidFill>
                <a:latin typeface="Arial"/>
                <a:ea typeface="PingFang SC"/>
              </a:rPr>
              <a:t>司机凭经验排队，8–10 点扎堆</a:t>
            </a:r>
          </a:p>
          <a:p>
            <a:pPr marL="284480" indent="-284480">
              <a:lnSpc>
                <a:spcPct val="115000"/>
              </a:lnSpc>
              <a:spcBef>
                <a:spcPts val="1400"/>
              </a:spcBef>
              <a:buClr>
                <a:srgbClr val="6B6B6B"/>
              </a:buClr>
              <a:buFont typeface="Arial"/>
              <a:buAutoNum type="arabicPlain"/>
            </a:pPr>
            <a:r>
              <a:rPr sz="1600" b="0">
                <a:solidFill>
                  <a:srgbClr val="1A1A1A"/>
                </a:solidFill>
                <a:latin typeface="Arial"/>
                <a:ea typeface="PingFang SC"/>
              </a:rPr>
              <a:t>低电量车也得排队，过放告警多</a:t>
            </a:r>
          </a:p>
          <a:p>
            <a:pPr marL="284480" indent="-284480">
              <a:lnSpc>
                <a:spcPct val="115000"/>
              </a:lnSpc>
              <a:spcBef>
                <a:spcPts val="1400"/>
              </a:spcBef>
              <a:buClr>
                <a:srgbClr val="6B6B6B"/>
              </a:buClr>
              <a:buFont typeface="Arial"/>
              <a:buAutoNum type="arabicPlain"/>
            </a:pPr>
            <a:r>
              <a:rPr sz="1600" b="0">
                <a:solidFill>
                  <a:srgbClr val="1A1A1A"/>
                </a:solidFill>
                <a:latin typeface="Arial"/>
                <a:ea typeface="PingFang SC"/>
              </a:rPr>
              <a:t>12 台车共用 6 个充电位，需求集中在同一时段</a:t>
            </a:r>
          </a:p>
        </p:txBody>
      </p:sp>
      <p:sp>
        <p:nvSpPr>
          <p:cNvPr id="17" name="Stat Source"/>
          <p:cNvSpPr txBox="1"/>
          <p:nvPr/>
        </p:nvSpPr>
        <p:spPr>
          <a:xfrm>
            <a:off x="6455664" y="4663440"/>
            <a:ext cx="5221224" cy="45720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月，A 仓 12 台；排队为摄像头每日 8:30 抽样，其余为设备系统记录</a:t>
            </a:r>
          </a:p>
        </p:txBody>
      </p:sp>
      <p:sp>
        <p:nvSpPr>
          <p:cNvPr id="18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问题在没有排班，不在充电位不够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系统按电量排时段，司机到点再去充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排班做法 / SOLUTION</a:t>
            </a:r>
          </a:p>
        </p:txBody>
      </p:sp>
      <p:sp>
        <p:nvSpPr>
          <p:cNvPr id="4" name="Process Card 1"/>
          <p:cNvSpPr/>
          <p:nvPr/>
        </p:nvSpPr>
        <p:spPr>
          <a:xfrm>
            <a:off x="512064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按电量分时段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按剩余电量排序，30 分钟一档</a:t>
            </a:r>
          </a:p>
        </p:txBody>
      </p:sp>
      <p:sp>
        <p:nvSpPr>
          <p:cNvPr id="5" name="Process Number 1"/>
          <p:cNvSpPr/>
          <p:nvPr/>
        </p:nvSpPr>
        <p:spPr>
          <a:xfrm>
            <a:off x="694944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1</a:t>
            </a:r>
          </a:p>
        </p:txBody>
      </p:sp>
      <p:sp>
        <p:nvSpPr>
          <p:cNvPr id="6" name="Process Card 2"/>
          <p:cNvSpPr/>
          <p:nvPr/>
        </p:nvSpPr>
        <p:spPr>
          <a:xfrm>
            <a:off x="3371850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推送到终端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时段发到手持终端，到点提醒</a:t>
            </a:r>
          </a:p>
        </p:txBody>
      </p:sp>
      <p:sp>
        <p:nvSpPr>
          <p:cNvPr id="7" name="Process Number 2"/>
          <p:cNvSpPr/>
          <p:nvPr/>
        </p:nvSpPr>
        <p:spPr>
          <a:xfrm>
            <a:off x="3554730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2</a:t>
            </a:r>
          </a:p>
        </p:txBody>
      </p:sp>
      <p:sp>
        <p:nvSpPr>
          <p:cNvPr id="8" name="Process Card 3"/>
          <p:cNvSpPr/>
          <p:nvPr/>
        </p:nvSpPr>
        <p:spPr>
          <a:xfrm>
            <a:off x="6231636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低电量优先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电量低于 20% 的车直接插队</a:t>
            </a:r>
          </a:p>
        </p:txBody>
      </p:sp>
      <p:sp>
        <p:nvSpPr>
          <p:cNvPr id="9" name="Process Number 3"/>
          <p:cNvSpPr/>
          <p:nvPr/>
        </p:nvSpPr>
        <p:spPr>
          <a:xfrm>
            <a:off x="6414516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3</a:t>
            </a:r>
          </a:p>
        </p:txBody>
      </p:sp>
      <p:sp>
        <p:nvSpPr>
          <p:cNvPr id="10" name="Process Card 4"/>
          <p:cNvSpPr/>
          <p:nvPr/>
        </p:nvSpPr>
        <p:spPr>
          <a:xfrm>
            <a:off x="9091422" y="2354580"/>
            <a:ext cx="2585466" cy="1828800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</p:spPr>
        <p:txBody>
          <a:bodyPr rtlCol="0" anchor="t" wrap="square" lIns="182880" rIns="182880" bIns="182880" tIns="411480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早会看执行</a:t>
            </a:r>
          </a:p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班组长每天查前一天执行率</a:t>
            </a:r>
          </a:p>
        </p:txBody>
      </p:sp>
      <p:sp>
        <p:nvSpPr>
          <p:cNvPr id="11" name="Process Number 4"/>
          <p:cNvSpPr/>
          <p:nvPr/>
        </p:nvSpPr>
        <p:spPr>
          <a:xfrm>
            <a:off x="9274302" y="2125980"/>
            <a:ext cx="457200" cy="45720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  <a:ea typeface="PingFang SC"/>
              </a:rPr>
              <a:t>4</a:t>
            </a:r>
          </a:p>
        </p:txBody>
      </p:sp>
      <p:sp>
        <p:nvSpPr>
          <p:cNvPr id="12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未新增采购：IT 内部配置，复用现有手持终端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7 月上线，8 月起三班全量运行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试点进度 / MILESTONE</a:t>
            </a:r>
          </a:p>
        </p:txBody>
      </p:sp>
      <p:sp>
        <p:nvSpPr>
          <p:cNvPr id="4" name="Legend Icon 1"/>
          <p:cNvSpPr/>
          <p:nvPr/>
        </p:nvSpPr>
        <p:spPr>
          <a:xfrm>
            <a:off x="7266432" y="1216152"/>
            <a:ext cx="182880" cy="182880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Legend Check 1"/>
          <p:cNvSpPr/>
          <p:nvPr/>
        </p:nvSpPr>
        <p:spPr>
          <a:xfrm>
            <a:off x="7310324" y="1271016"/>
            <a:ext cx="98754" cy="73152"/>
          </a:xfrm>
          <a:custGeom>
            <a:avLst/>
            <a:gdLst/>
            <a:ahLst/>
            <a:cxnLst/>
            <a:rect l="l" t="t" r="r" b="b"/>
            <a:pathLst>
              <a:path w="98754" h="73152">
                <a:moveTo>
                  <a:pt x="0" y="36576"/>
                </a:moveTo>
                <a:lnTo>
                  <a:pt x="34747" y="73152"/>
                </a:lnTo>
                <a:lnTo>
                  <a:pt x="98754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Legend Label 1"/>
          <p:cNvSpPr txBox="1"/>
          <p:nvPr/>
        </p:nvSpPr>
        <p:spPr>
          <a:xfrm>
            <a:off x="753160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已完成</a:t>
            </a:r>
          </a:p>
        </p:txBody>
      </p:sp>
      <p:sp>
        <p:nvSpPr>
          <p:cNvPr id="7" name="Legend Icon 2"/>
          <p:cNvSpPr/>
          <p:nvPr/>
        </p:nvSpPr>
        <p:spPr>
          <a:xfrm>
            <a:off x="8363712" y="1216152"/>
            <a:ext cx="182880" cy="182880"/>
          </a:xfrm>
          <a:prstGeom prst="ellipse">
            <a:avLst/>
          </a:prstGeom>
          <a:solidFill>
            <a:srgbClr val="F2A900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Legend Label 2"/>
          <p:cNvSpPr txBox="1"/>
          <p:nvPr/>
        </p:nvSpPr>
        <p:spPr>
          <a:xfrm>
            <a:off x="862888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进行中</a:t>
            </a:r>
          </a:p>
        </p:txBody>
      </p:sp>
      <p:sp>
        <p:nvSpPr>
          <p:cNvPr id="9" name="Legend Icon 3"/>
          <p:cNvSpPr/>
          <p:nvPr/>
        </p:nvSpPr>
        <p:spPr>
          <a:xfrm>
            <a:off x="9460992" y="1216152"/>
            <a:ext cx="182880" cy="1828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DB011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Legend Label 3"/>
          <p:cNvSpPr txBox="1"/>
          <p:nvPr/>
        </p:nvSpPr>
        <p:spPr>
          <a:xfrm>
            <a:off x="9726168" y="1188720"/>
            <a:ext cx="5486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未完成</a:t>
            </a:r>
          </a:p>
        </p:txBody>
      </p:sp>
      <p:sp>
        <p:nvSpPr>
          <p:cNvPr id="11" name="Legend Icon 4"/>
          <p:cNvSpPr/>
          <p:nvPr/>
        </p:nvSpPr>
        <p:spPr>
          <a:xfrm>
            <a:off x="10530840" y="1188720"/>
            <a:ext cx="237744" cy="237744"/>
          </a:xfrm>
          <a:prstGeom prst="diamond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Legend Label 4"/>
          <p:cNvSpPr txBox="1"/>
          <p:nvPr/>
        </p:nvSpPr>
        <p:spPr>
          <a:xfrm>
            <a:off x="10823448" y="1188720"/>
            <a:ext cx="853440" cy="23774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关键里程碑</a:t>
            </a:r>
          </a:p>
        </p:txBody>
      </p:sp>
      <p:cxnSp>
        <p:nvCxnSpPr>
          <p:cNvPr id="13" name="Progress Line"/>
          <p:cNvCxnSpPr/>
          <p:nvPr/>
        </p:nvCxnSpPr>
        <p:spPr>
          <a:xfrm>
            <a:off x="1804797" y="3246120"/>
            <a:ext cx="8579358" cy="0"/>
          </a:xfrm>
          <a:prstGeom prst="line">
            <a:avLst/>
          </a:prstGeom>
          <a:ln w="50800">
            <a:solidFill>
              <a:srgbClr val="2E7D32"/>
            </a:solidFill>
          </a:ln>
          <a:effectLst/>
        </p:spPr>
      </p:cxnSp>
      <p:sp>
        <p:nvSpPr>
          <p:cNvPr id="14" name="Milestone Node 1"/>
          <p:cNvSpPr/>
          <p:nvPr/>
        </p:nvSpPr>
        <p:spPr>
          <a:xfrm>
            <a:off x="1658493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ilestone Check 1"/>
          <p:cNvSpPr/>
          <p:nvPr/>
        </p:nvSpPr>
        <p:spPr>
          <a:xfrm>
            <a:off x="1728719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Milestone Node 2"/>
          <p:cNvSpPr/>
          <p:nvPr/>
        </p:nvSpPr>
        <p:spPr>
          <a:xfrm>
            <a:off x="4518279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Milestone Check 2"/>
          <p:cNvSpPr/>
          <p:nvPr/>
        </p:nvSpPr>
        <p:spPr>
          <a:xfrm>
            <a:off x="4588505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Milestone Node 3"/>
          <p:cNvSpPr/>
          <p:nvPr/>
        </p:nvSpPr>
        <p:spPr>
          <a:xfrm>
            <a:off x="7304913" y="3026664"/>
            <a:ext cx="438912" cy="438912"/>
          </a:xfrm>
          <a:prstGeom prst="diamond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Milestone Check 3"/>
          <p:cNvSpPr/>
          <p:nvPr/>
        </p:nvSpPr>
        <p:spPr>
          <a:xfrm>
            <a:off x="7438782" y="3180284"/>
            <a:ext cx="177758" cy="131672"/>
          </a:xfrm>
          <a:custGeom>
            <a:avLst/>
            <a:gdLst/>
            <a:ahLst/>
            <a:cxnLst/>
            <a:rect l="l" t="t" r="r" b="b"/>
            <a:pathLst>
              <a:path w="177758" h="131672">
                <a:moveTo>
                  <a:pt x="0" y="65836"/>
                </a:moveTo>
                <a:lnTo>
                  <a:pt x="62545" y="131672"/>
                </a:lnTo>
                <a:lnTo>
                  <a:pt x="17775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ilestone Node 4"/>
          <p:cNvSpPr/>
          <p:nvPr/>
        </p:nvSpPr>
        <p:spPr>
          <a:xfrm>
            <a:off x="10237851" y="3099816"/>
            <a:ext cx="292608" cy="292608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Milestone Check 4"/>
          <p:cNvSpPr/>
          <p:nvPr/>
        </p:nvSpPr>
        <p:spPr>
          <a:xfrm>
            <a:off x="10308077" y="3187599"/>
            <a:ext cx="158008" cy="117042"/>
          </a:xfrm>
          <a:custGeom>
            <a:avLst/>
            <a:gdLst/>
            <a:ahLst/>
            <a:cxnLst/>
            <a:rect l="l" t="t" r="r" b="b"/>
            <a:pathLst>
              <a:path w="158008" h="117042">
                <a:moveTo>
                  <a:pt x="0" y="58521"/>
                </a:moveTo>
                <a:lnTo>
                  <a:pt x="55596" y="117042"/>
                </a:lnTo>
                <a:lnTo>
                  <a:pt x="158008" y="0"/>
                </a:lnTo>
              </a:path>
            </a:pathLst>
          </a:custGeom>
          <a:noFill/>
          <a:ln w="2857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Milestone Date 1"/>
          <p:cNvSpPr txBox="1"/>
          <p:nvPr/>
        </p:nvSpPr>
        <p:spPr>
          <a:xfrm>
            <a:off x="512064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07-01</a:t>
            </a:r>
          </a:p>
        </p:txBody>
      </p:sp>
      <p:sp>
        <p:nvSpPr>
          <p:cNvPr id="23" name="Milestone Date 2"/>
          <p:cNvSpPr txBox="1"/>
          <p:nvPr/>
        </p:nvSpPr>
        <p:spPr>
          <a:xfrm>
            <a:off x="3371850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07-15</a:t>
            </a:r>
          </a:p>
        </p:txBody>
      </p:sp>
      <p:sp>
        <p:nvSpPr>
          <p:cNvPr id="24" name="Milestone Date 3"/>
          <p:cNvSpPr txBox="1"/>
          <p:nvPr/>
        </p:nvSpPr>
        <p:spPr>
          <a:xfrm>
            <a:off x="6231636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08-01</a:t>
            </a:r>
          </a:p>
        </p:txBody>
      </p:sp>
      <p:sp>
        <p:nvSpPr>
          <p:cNvPr id="25" name="Milestone Date 4"/>
          <p:cNvSpPr txBox="1"/>
          <p:nvPr/>
        </p:nvSpPr>
        <p:spPr>
          <a:xfrm>
            <a:off x="9091422" y="2331720"/>
            <a:ext cx="2585466" cy="3200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200" b="1">
                <a:solidFill>
                  <a:srgbClr val="6B6B6B"/>
                </a:solidFill>
                <a:latin typeface="Arial"/>
                <a:ea typeface="PingFang SC"/>
              </a:rPr>
              <a:t>09-30</a:t>
            </a:r>
          </a:p>
        </p:txBody>
      </p:sp>
      <p:sp>
        <p:nvSpPr>
          <p:cNvPr id="26" name="Milestone Text 1"/>
          <p:cNvSpPr txBox="1"/>
          <p:nvPr/>
        </p:nvSpPr>
        <p:spPr>
          <a:xfrm>
            <a:off x="512064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方案评审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评审通过</a:t>
            </a:r>
          </a:p>
        </p:txBody>
      </p:sp>
      <p:sp>
        <p:nvSpPr>
          <p:cNvPr id="27" name="Milestone Text 2"/>
          <p:cNvSpPr txBox="1"/>
          <p:nvPr/>
        </p:nvSpPr>
        <p:spPr>
          <a:xfrm>
            <a:off x="3371850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系统上线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早班试运行</a:t>
            </a:r>
          </a:p>
        </p:txBody>
      </p:sp>
      <p:sp>
        <p:nvSpPr>
          <p:cNvPr id="28" name="Milestone Text 3"/>
          <p:cNvSpPr txBox="1"/>
          <p:nvPr/>
        </p:nvSpPr>
        <p:spPr>
          <a:xfrm>
            <a:off x="6231636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A1A1A"/>
                </a:solidFill>
                <a:latin typeface="Arial"/>
                <a:ea typeface="PingFang SC"/>
              </a:rPr>
              <a:t>全量排班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三个班次</a:t>
            </a:r>
          </a:p>
        </p:txBody>
      </p:sp>
      <p:sp>
        <p:nvSpPr>
          <p:cNvPr id="29" name="Milestone Text 4"/>
          <p:cNvSpPr txBox="1"/>
          <p:nvPr/>
        </p:nvSpPr>
        <p:spPr>
          <a:xfrm>
            <a:off x="9091422" y="3794760"/>
            <a:ext cx="2585466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试点复盘</a:t>
            </a:r>
          </a:p>
          <a:p>
            <a:pPr algn="ctr">
              <a:spcBef>
                <a:spcPts val="600"/>
              </a:spcBef>
            </a:pPr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试点结束</a:t>
            </a:r>
          </a:p>
        </p:txBody>
      </p:sp>
      <p:sp>
        <p:nvSpPr>
          <p:cNvPr id="30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试点按计划完成，9 月排班执行率 96%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等待时间降 7 成，可用率升到 93%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试点结果 / RESULTS</a:t>
            </a:r>
          </a:p>
        </p:txBody>
      </p:sp>
      <p:sp>
        <p:nvSpPr>
          <p:cNvPr id="4" name="Stat Rule 1"/>
          <p:cNvSpPr/>
          <p:nvPr/>
        </p:nvSpPr>
        <p:spPr>
          <a:xfrm>
            <a:off x="512064" y="1188720"/>
            <a:ext cx="2482596" cy="54864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tat Label 1"/>
          <p:cNvSpPr txBox="1"/>
          <p:nvPr/>
        </p:nvSpPr>
        <p:spPr>
          <a:xfrm>
            <a:off x="512064" y="141732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等待充电</a:t>
            </a:r>
          </a:p>
        </p:txBody>
      </p:sp>
      <p:sp>
        <p:nvSpPr>
          <p:cNvPr id="6" name="Stat Number 1"/>
          <p:cNvSpPr txBox="1"/>
          <p:nvPr/>
        </p:nvSpPr>
        <p:spPr>
          <a:xfrm>
            <a:off x="512064" y="1691640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DB011C"/>
                </a:solidFill>
                <a:latin typeface="Arial"/>
                <a:ea typeface="PingFang SC"/>
              </a:rPr>
              <a:t>11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分钟</a:t>
            </a:r>
          </a:p>
        </p:txBody>
      </p:sp>
      <p:sp>
        <p:nvSpPr>
          <p:cNvPr id="7" name="Stat Note 1"/>
          <p:cNvSpPr txBox="1"/>
          <p:nvPr/>
        </p:nvSpPr>
        <p:spPr>
          <a:xfrm>
            <a:off x="512064" y="2670048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38 分钟</a:t>
            </a:r>
          </a:p>
        </p:txBody>
      </p:sp>
      <p:cxnSp>
        <p:nvCxnSpPr>
          <p:cNvPr id="8" name="Stat Divider 1"/>
          <p:cNvCxnSpPr/>
          <p:nvPr/>
        </p:nvCxnSpPr>
        <p:spPr>
          <a:xfrm>
            <a:off x="512064" y="3127248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9" name="Stat Points 1"/>
          <p:cNvSpPr txBox="1"/>
          <p:nvPr/>
        </p:nvSpPr>
        <p:spPr>
          <a:xfrm>
            <a:off x="512064" y="3291840"/>
            <a:ext cx="2482596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司机按推送时段到点充电</a:t>
            </a:r>
          </a:p>
          <a:p>
            <a:pPr algn="l" marL="248919" indent="-248919">
              <a:spcBef>
                <a:spcPts val="1000"/>
              </a:spcBef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低电量车优先，不再排队等</a:t>
            </a:r>
          </a:p>
        </p:txBody>
      </p:sp>
      <p:sp>
        <p:nvSpPr>
          <p:cNvPr id="10" name="Stat Rule 2"/>
          <p:cNvSpPr/>
          <p:nvPr/>
        </p:nvSpPr>
        <p:spPr>
          <a:xfrm>
            <a:off x="3406140" y="1188720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Stat Label 2"/>
          <p:cNvSpPr txBox="1"/>
          <p:nvPr/>
        </p:nvSpPr>
        <p:spPr>
          <a:xfrm>
            <a:off x="3406140" y="141732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叉车可用率</a:t>
            </a:r>
          </a:p>
        </p:txBody>
      </p:sp>
      <p:sp>
        <p:nvSpPr>
          <p:cNvPr id="12" name="Stat Number 2"/>
          <p:cNvSpPr txBox="1"/>
          <p:nvPr/>
        </p:nvSpPr>
        <p:spPr>
          <a:xfrm>
            <a:off x="3406140" y="1691640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93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%</a:t>
            </a:r>
          </a:p>
        </p:txBody>
      </p:sp>
      <p:sp>
        <p:nvSpPr>
          <p:cNvPr id="13" name="Stat Note 2"/>
          <p:cNvSpPr txBox="1"/>
          <p:nvPr/>
        </p:nvSpPr>
        <p:spPr>
          <a:xfrm>
            <a:off x="3406140" y="2670048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81%</a:t>
            </a:r>
          </a:p>
        </p:txBody>
      </p:sp>
      <p:cxnSp>
        <p:nvCxnSpPr>
          <p:cNvPr id="14" name="Stat Divider 2"/>
          <p:cNvCxnSpPr/>
          <p:nvPr/>
        </p:nvCxnSpPr>
        <p:spPr>
          <a:xfrm>
            <a:off x="3406140" y="3127248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15" name="Stat Points 2"/>
          <p:cNvSpPr txBox="1"/>
          <p:nvPr/>
        </p:nvSpPr>
        <p:spPr>
          <a:xfrm>
            <a:off x="3406140" y="3291840"/>
            <a:ext cx="2482596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等待少了，在岗时间变长</a:t>
            </a:r>
          </a:p>
          <a:p>
            <a:pPr algn="l" marL="248919" indent="-248919">
              <a:spcBef>
                <a:spcPts val="1000"/>
              </a:spcBef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不含计划保养时段</a:t>
            </a:r>
          </a:p>
        </p:txBody>
      </p:sp>
      <p:sp>
        <p:nvSpPr>
          <p:cNvPr id="16" name="Stat Rule 3"/>
          <p:cNvSpPr/>
          <p:nvPr/>
        </p:nvSpPr>
        <p:spPr>
          <a:xfrm>
            <a:off x="6300216" y="1188720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Stat Label 3"/>
          <p:cNvSpPr txBox="1"/>
          <p:nvPr/>
        </p:nvSpPr>
        <p:spPr>
          <a:xfrm>
            <a:off x="6300216" y="141732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早高峰排队</a:t>
            </a:r>
          </a:p>
        </p:txBody>
      </p:sp>
      <p:sp>
        <p:nvSpPr>
          <p:cNvPr id="18" name="Stat Number 3"/>
          <p:cNvSpPr txBox="1"/>
          <p:nvPr/>
        </p:nvSpPr>
        <p:spPr>
          <a:xfrm>
            <a:off x="6300216" y="1691640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2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台</a:t>
            </a:r>
          </a:p>
        </p:txBody>
      </p:sp>
      <p:sp>
        <p:nvSpPr>
          <p:cNvPr id="19" name="Stat Note 3"/>
          <p:cNvSpPr txBox="1"/>
          <p:nvPr/>
        </p:nvSpPr>
        <p:spPr>
          <a:xfrm>
            <a:off x="6300216" y="2670048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6 台</a:t>
            </a:r>
          </a:p>
        </p:txBody>
      </p:sp>
      <p:cxnSp>
        <p:nvCxnSpPr>
          <p:cNvPr id="20" name="Stat Divider 3"/>
          <p:cNvCxnSpPr/>
          <p:nvPr/>
        </p:nvCxnSpPr>
        <p:spPr>
          <a:xfrm>
            <a:off x="6300216" y="3127248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21" name="Stat Points 3"/>
          <p:cNvSpPr txBox="1"/>
          <p:nvPr/>
        </p:nvSpPr>
        <p:spPr>
          <a:xfrm>
            <a:off x="6300216" y="3291840"/>
            <a:ext cx="2482596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周报巡检未见 3 台以上同时排队</a:t>
            </a:r>
          </a:p>
        </p:txBody>
      </p:sp>
      <p:sp>
        <p:nvSpPr>
          <p:cNvPr id="22" name="Stat Rule 4"/>
          <p:cNvSpPr/>
          <p:nvPr/>
        </p:nvSpPr>
        <p:spPr>
          <a:xfrm>
            <a:off x="9194292" y="1188720"/>
            <a:ext cx="2482596" cy="54864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Stat Label 4"/>
          <p:cNvSpPr txBox="1"/>
          <p:nvPr/>
        </p:nvSpPr>
        <p:spPr>
          <a:xfrm>
            <a:off x="9194292" y="1417320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A1A1A"/>
                </a:solidFill>
                <a:latin typeface="Arial"/>
                <a:ea typeface="PingFang SC"/>
              </a:rPr>
              <a:t>电池告警</a:t>
            </a:r>
          </a:p>
        </p:txBody>
      </p:sp>
      <p:sp>
        <p:nvSpPr>
          <p:cNvPr id="24" name="Stat Number 4"/>
          <p:cNvSpPr txBox="1"/>
          <p:nvPr/>
        </p:nvSpPr>
        <p:spPr>
          <a:xfrm>
            <a:off x="9194292" y="1691640"/>
            <a:ext cx="2482596" cy="9144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pPr algn="l"/>
            <a:r>
              <a:rPr sz="6000" b="1">
                <a:solidFill>
                  <a:srgbClr val="1A1A1A"/>
                </a:solidFill>
                <a:latin typeface="Arial"/>
                <a:ea typeface="PingFang SC"/>
              </a:rPr>
              <a:t>3</a:t>
            </a:r>
            <a:r>
              <a:rPr sz="2800" b="0">
                <a:solidFill>
                  <a:srgbClr val="6B6B6B"/>
                </a:solidFill>
                <a:latin typeface="Arial"/>
                <a:ea typeface="PingFang SC"/>
              </a:rPr>
              <a:t> 次</a:t>
            </a:r>
          </a:p>
        </p:txBody>
      </p:sp>
      <p:sp>
        <p:nvSpPr>
          <p:cNvPr id="25" name="Stat Note 4"/>
          <p:cNvSpPr txBox="1"/>
          <p:nvPr/>
        </p:nvSpPr>
        <p:spPr>
          <a:xfrm>
            <a:off x="9194292" y="2670048"/>
            <a:ext cx="24825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6 月 9 次</a:t>
            </a:r>
          </a:p>
        </p:txBody>
      </p:sp>
      <p:cxnSp>
        <p:nvCxnSpPr>
          <p:cNvPr id="26" name="Stat Divider 4"/>
          <p:cNvCxnSpPr/>
          <p:nvPr/>
        </p:nvCxnSpPr>
        <p:spPr>
          <a:xfrm>
            <a:off x="9194292" y="3127248"/>
            <a:ext cx="2482596" cy="0"/>
          </a:xfrm>
          <a:prstGeom prst="line">
            <a:avLst/>
          </a:prstGeom>
          <a:ln w="12700">
            <a:solidFill>
              <a:srgbClr val="E5E5E5"/>
            </a:solidFill>
          </a:ln>
        </p:spPr>
      </p:cxnSp>
      <p:sp>
        <p:nvSpPr>
          <p:cNvPr id="27" name="Stat Points 4"/>
          <p:cNvSpPr txBox="1"/>
          <p:nvPr/>
        </p:nvSpPr>
        <p:spPr>
          <a:xfrm>
            <a:off x="9194292" y="3291840"/>
            <a:ext cx="2482596" cy="1481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48919" indent="-248919">
              <a:buFont typeface="Arial"/>
              <a:buChar char="•"/>
            </a:pPr>
            <a:r>
              <a:rPr sz="1400" b="0">
                <a:solidFill>
                  <a:srgbClr val="1A1A1A"/>
                </a:solidFill>
                <a:latin typeface="Arial"/>
                <a:ea typeface="PingFang SC"/>
              </a:rPr>
              <a:t>低电量车不再排队过放</a:t>
            </a:r>
          </a:p>
        </p:txBody>
      </p:sp>
      <p:sp>
        <p:nvSpPr>
          <p:cNvPr id="28" name="Stat Source"/>
          <p:cNvSpPr txBox="1"/>
          <p:nvPr/>
        </p:nvSpPr>
        <p:spPr>
          <a:xfrm>
            <a:off x="512064" y="4864608"/>
            <a:ext cx="1116482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Arial"/>
                <a:ea typeface="PingFang SC"/>
              </a:rPr>
              <a:t>口径：2026 年 6 月对比 9 月，A 仓 12 台；可用率为设备系统导出、不含计划保养</a:t>
            </a:r>
          </a:p>
        </p:txBody>
      </p:sp>
      <p:sp>
        <p:nvSpPr>
          <p:cNvPr id="29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6 月、9 月作业量相近，前后可比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4 人完成试点，原班人马带 B 仓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试点团队 / TEAM</a:t>
            </a:r>
          </a:p>
        </p:txBody>
      </p:sp>
      <p:sp>
        <p:nvSpPr>
          <p:cNvPr id="4" name="Member Card 1"/>
          <p:cNvSpPr/>
          <p:nvPr/>
        </p:nvSpPr>
        <p:spPr>
          <a:xfrm>
            <a:off x="512064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Member Name 1"/>
          <p:cNvSpPr txBox="1"/>
          <p:nvPr/>
        </p:nvSpPr>
        <p:spPr>
          <a:xfrm>
            <a:off x="694944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林晓</a:t>
            </a:r>
          </a:p>
        </p:txBody>
      </p:sp>
      <p:sp>
        <p:nvSpPr>
          <p:cNvPr id="6" name="Member Role 1"/>
          <p:cNvSpPr txBox="1"/>
          <p:nvPr/>
        </p:nvSpPr>
        <p:spPr>
          <a:xfrm>
            <a:off x="694944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项目负责人</a:t>
            </a:r>
          </a:p>
        </p:txBody>
      </p:sp>
      <p:cxnSp>
        <p:nvCxnSpPr>
          <p:cNvPr id="7" name="Member Rule 1"/>
          <p:cNvCxnSpPr/>
          <p:nvPr/>
        </p:nvCxnSpPr>
        <p:spPr>
          <a:xfrm>
            <a:off x="694944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8" name="Member Duty 1"/>
          <p:cNvSpPr txBox="1"/>
          <p:nvPr/>
        </p:nvSpPr>
        <p:spPr>
          <a:xfrm>
            <a:off x="694944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统筹试点与 B 仓推广</a:t>
            </a:r>
          </a:p>
        </p:txBody>
      </p:sp>
      <p:sp>
        <p:nvSpPr>
          <p:cNvPr id="9" name="Member Card 2"/>
          <p:cNvSpPr/>
          <p:nvPr/>
        </p:nvSpPr>
        <p:spPr>
          <a:xfrm>
            <a:off x="33695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Member Name 2"/>
          <p:cNvSpPr txBox="1"/>
          <p:nvPr/>
        </p:nvSpPr>
        <p:spPr>
          <a:xfrm>
            <a:off x="3552444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周峻</a:t>
            </a:r>
          </a:p>
        </p:txBody>
      </p:sp>
      <p:sp>
        <p:nvSpPr>
          <p:cNvPr id="11" name="Member Role 2"/>
          <p:cNvSpPr txBox="1"/>
          <p:nvPr/>
        </p:nvSpPr>
        <p:spPr>
          <a:xfrm>
            <a:off x="3552444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系统配置</a:t>
            </a:r>
          </a:p>
        </p:txBody>
      </p:sp>
      <p:cxnSp>
        <p:nvCxnSpPr>
          <p:cNvPr id="12" name="Member Rule 2"/>
          <p:cNvCxnSpPr/>
          <p:nvPr/>
        </p:nvCxnSpPr>
        <p:spPr>
          <a:xfrm>
            <a:off x="3552444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3" name="Member Duty 2"/>
          <p:cNvSpPr txBox="1"/>
          <p:nvPr/>
        </p:nvSpPr>
        <p:spPr>
          <a:xfrm>
            <a:off x="3552444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设备系统排班配置</a:t>
            </a:r>
          </a:p>
        </p:txBody>
      </p:sp>
      <p:sp>
        <p:nvSpPr>
          <p:cNvPr id="14" name="Member Card 3"/>
          <p:cNvSpPr/>
          <p:nvPr/>
        </p:nvSpPr>
        <p:spPr>
          <a:xfrm>
            <a:off x="62270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Member Name 3"/>
          <p:cNvSpPr txBox="1"/>
          <p:nvPr/>
        </p:nvSpPr>
        <p:spPr>
          <a:xfrm>
            <a:off x="6409943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陈蓉</a:t>
            </a:r>
          </a:p>
        </p:txBody>
      </p:sp>
      <p:sp>
        <p:nvSpPr>
          <p:cNvPr id="16" name="Member Role 3"/>
          <p:cNvSpPr txBox="1"/>
          <p:nvPr/>
        </p:nvSpPr>
        <p:spPr>
          <a:xfrm>
            <a:off x="6409943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班组长</a:t>
            </a:r>
          </a:p>
        </p:txBody>
      </p:sp>
      <p:cxnSp>
        <p:nvCxnSpPr>
          <p:cNvPr id="17" name="Member Rule 3"/>
          <p:cNvCxnSpPr/>
          <p:nvPr/>
        </p:nvCxnSpPr>
        <p:spPr>
          <a:xfrm>
            <a:off x="6409943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8" name="Member Duty 3"/>
          <p:cNvSpPr txBox="1"/>
          <p:nvPr/>
        </p:nvSpPr>
        <p:spPr>
          <a:xfrm>
            <a:off x="6409943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早班执行与反馈</a:t>
            </a:r>
          </a:p>
        </p:txBody>
      </p:sp>
      <p:sp>
        <p:nvSpPr>
          <p:cNvPr id="19" name="Member Card 4"/>
          <p:cNvSpPr/>
          <p:nvPr/>
        </p:nvSpPr>
        <p:spPr>
          <a:xfrm>
            <a:off x="9084563" y="2288159"/>
            <a:ext cx="2583179" cy="1733042"/>
          </a:xfrm>
          <a:prstGeom prst="rect">
            <a:avLst/>
          </a:prstGeom>
          <a:solidFill>
            <a:srgbClr val="F5F5F5"/>
          </a:solidFill>
          <a:ln w="9525">
            <a:solidFill>
              <a:srgbClr val="E5E5E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Member Name 4"/>
          <p:cNvSpPr txBox="1"/>
          <p:nvPr/>
        </p:nvSpPr>
        <p:spPr>
          <a:xfrm>
            <a:off x="9267443" y="2471039"/>
            <a:ext cx="2217420" cy="317500"/>
          </a:xfrm>
          <a:prstGeom prst="rect">
            <a:avLst/>
          </a:prstGeom>
          <a:noFill/>
        </p:spPr>
        <p:txBody>
          <a:bodyPr wrap="none" lIns="0" rIns="0" tIns="0" bIns="0" anchor="b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Arial"/>
                <a:ea typeface="PingFang SC"/>
              </a:rPr>
              <a:t>吴迪</a:t>
            </a:r>
          </a:p>
        </p:txBody>
      </p:sp>
      <p:sp>
        <p:nvSpPr>
          <p:cNvPr id="21" name="Member Role 4"/>
          <p:cNvSpPr txBox="1"/>
          <p:nvPr/>
        </p:nvSpPr>
        <p:spPr>
          <a:xfrm>
            <a:off x="9267443" y="2825115"/>
            <a:ext cx="2217420" cy="2222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Arial"/>
                <a:ea typeface="PingFang SC"/>
              </a:rPr>
              <a:t>数据统计</a:t>
            </a:r>
          </a:p>
        </p:txBody>
      </p:sp>
      <p:cxnSp>
        <p:nvCxnSpPr>
          <p:cNvPr id="22" name="Member Rule 4"/>
          <p:cNvCxnSpPr/>
          <p:nvPr/>
        </p:nvCxnSpPr>
        <p:spPr>
          <a:xfrm>
            <a:off x="9267443" y="3157093"/>
            <a:ext cx="221742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23" name="Member Duty 4"/>
          <p:cNvSpPr txBox="1"/>
          <p:nvPr/>
        </p:nvSpPr>
        <p:spPr>
          <a:xfrm>
            <a:off x="9267443" y="3266821"/>
            <a:ext cx="221742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>
                <a:solidFill>
                  <a:srgbClr val="1A1A1A"/>
                </a:solidFill>
                <a:latin typeface="Arial"/>
                <a:ea typeface="PingFang SC"/>
              </a:rPr>
              <a:t>改前改后指标统计</a:t>
            </a:r>
          </a:p>
        </p:txBody>
      </p:sp>
      <p:sp>
        <p:nvSpPr>
          <p:cNvPr id="24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仓由林晓带队，陈蓉带教一周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B 仓车位比与 A 仓相同，可直接沿用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 仓推广 / ROLLOUT</a:t>
            </a:r>
          </a:p>
        </p:txBody>
      </p:sp>
      <p:graphicFrame>
        <p:nvGraphicFramePr>
          <p:cNvPr id="4" name="Data Table"/>
          <p:cNvGraphicFramePr>
            <a:graphicFrameLocks noGrp="1"/>
          </p:cNvGraphicFramePr>
          <p:nvPr/>
        </p:nvGraphicFramePr>
        <p:xfrm>
          <a:off x="621792" y="1188720"/>
          <a:ext cx="11045949" cy="2655824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81983"/>
                <a:gridCol w="3681983"/>
                <a:gridCol w="3681983"/>
              </a:tblGrid>
              <a:tr h="33197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项目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A 仓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B 仓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A1A1A"/>
                      </a:solidFill>
                    </a:lnB>
                    <a:solidFill>
                      <a:srgbClr val="E5E5E5"/>
                    </a:solidFill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叉车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12 台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8 台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充电位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6 个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4 个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车位比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2:1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IT 配置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已完成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约 2 人日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新增采购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无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试运行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7–9 月，3 个月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11 月，1 个月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331978"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带教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—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  <a:latin typeface="Arial"/>
                          <a:ea typeface="PingFang SC"/>
                        </a:rPr>
                        <a:t>陈蓉驻场 1 周</a:t>
                      </a:r>
                    </a:p>
                  </a:txBody>
                  <a:tcPr marL="91440" marR="91440" marT="54864" marB="54864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able Key Bar"/>
          <p:cNvSpPr/>
          <p:nvPr/>
        </p:nvSpPr>
        <p:spPr>
          <a:xfrm>
            <a:off x="512064" y="2184654"/>
            <a:ext cx="54864" cy="331978"/>
          </a:xfrm>
          <a:prstGeom prst="rect">
            <a:avLst/>
          </a:prstGeom>
          <a:solidFill>
            <a:srgbClr val="DB011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Caption Bar"/>
          <p:cNvSpPr txBox="1">
            <a:spLocks noChangeArrowheads="1"/>
          </p:cNvSpPr>
          <p:nvPr/>
        </p:nvSpPr>
        <p:spPr bwMode="auto">
          <a:xfrm>
            <a:off x="155575" y="5379048"/>
            <a:ext cx="11874874" cy="1097952"/>
          </a:xfrm>
          <a:prstGeom prst="rect">
            <a:avLst/>
          </a:prstGeom>
          <a:solidFill>
            <a:srgbClr val="DB011C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342900" indent="-342900" eaLnBrk="0" hangingPunct="0">
              <a:lnSpc>
                <a:spcPct val="150000"/>
              </a:lnSpc>
              <a:buFont typeface="Wingdings" panose="05000000000000000000" pitchFamily="2" charset="2"/>
              <a:buChar char="v"/>
              <a:defRPr sz="1400" b="0">
                <a:solidFill>
                  <a:schemeClr val="bg1"/>
                </a:solidFill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B 仓条件与 A 仓一致，不需要新增采购</a:t>
            </a:r>
          </a:p>
          <a:p>
            <a:r>
              <a:rPr lang="en-US" altLang="zh-CN" dirty="0"/>
              <a:t>Next: 申请批准 B 仓 11-01 起试运行 1 个月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15 template">
  <a:themeElements>
    <a:clrScheme name="Design Red sRGB R-219 G-1 B-28">
      <a:dk1>
        <a:srgbClr val="000000"/>
      </a:dk1>
      <a:lt1>
        <a:srgbClr val="FFFFFF"/>
      </a:lt1>
      <a:dk2>
        <a:srgbClr val="DB011C"/>
      </a:dk2>
      <a:lt2>
        <a:srgbClr val="EEECE1"/>
      </a:lt2>
      <a:accent1>
        <a:srgbClr val="DB011C"/>
      </a:accent1>
      <a:accent2>
        <a:srgbClr val="FDBC18"/>
      </a:accent2>
      <a:accent3>
        <a:srgbClr val="2459AF"/>
      </a:accent3>
      <a:accent4>
        <a:srgbClr val="DA5E00"/>
      </a:accent4>
      <a:accent5>
        <a:srgbClr val="002563"/>
      </a:accent5>
      <a:accent6>
        <a:srgbClr val="DB011C"/>
      </a:accent6>
      <a:hlink>
        <a:srgbClr val="1A4283"/>
      </a:hlink>
      <a:folHlink>
        <a:srgbClr val="595959"/>
      </a:folHlink>
    </a:clrScheme>
    <a:fontScheme name="Milwaukee Tool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3" id="{2AA0E91C-229F-4747-BB2F-D29E0248232D}" vid="{3CC085D5-A704-1A4A-8B73-A9C5DF27ADD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3F85DA7-2483-AA4D-B923-1B659AF6C879}">
  <we:reference id="wa200006067" version="1.0.0.9" store="en-US" storeType="OMEX"/>
  <we:alternateReferences>
    <we:reference id="WA200006067" version="1.0.0.9" store="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76AB20B58D654AA06DE8E33932FA8A" ma:contentTypeVersion="4" ma:contentTypeDescription="Create a new document." ma:contentTypeScope="" ma:versionID="f9465beadc2976007956fe639b04060b">
  <xsd:schema xmlns:xsd="http://www.w3.org/2001/XMLSchema" xmlns:xs="http://www.w3.org/2001/XMLSchema" xmlns:p="http://schemas.microsoft.com/office/2006/metadata/properties" xmlns:ns2="beb76b56-07f3-441d-bfae-cb7ae3539b9d" targetNamespace="http://schemas.microsoft.com/office/2006/metadata/properties" ma:root="true" ma:fieldsID="84c91895f88d411f3e646afb8fff1bc2" ns2:_="">
    <xsd:import namespace="beb76b56-07f3-441d-bfae-cb7ae3539b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b76b56-07f3-441d-bfae-cb7ae3539b9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3ABD3D-B5BD-4AE7-B129-0369CC1AD6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13778A-D8AB-4A26-96C0-9AA1E481D6B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5C26B5C-0AE5-4871-8284-7F12DDB8F9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eb76b56-07f3-441d-bfae-cb7ae3539b9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2</Words>
  <Application>Microsoft Macintosh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Arial Black</vt:lpstr>
      <vt:lpstr>Calibri</vt:lpstr>
      <vt:lpstr>Wingdings</vt:lpstr>
      <vt:lpstr>2015 template</vt:lpstr>
      <vt:lpstr>PowerPoint Presentation</vt:lpstr>
      <vt:lpstr>PowerPoint Presentation</vt:lpstr>
      <vt:lpstr>PowerPoint Presentation</vt:lpstr>
      <vt:lpstr>工作方式对比</vt:lpstr>
    </vt:vector>
  </TitlesOfParts>
  <Company>Milwaukee Tool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Wattenbach, Brian</dc:creator>
  <cp:lastModifiedBy>逸韬 王</cp:lastModifiedBy>
  <cp:revision>7</cp:revision>
  <dcterms:created xsi:type="dcterms:W3CDTF">2025-03-12T16:17:19Z</dcterms:created>
  <dcterms:modified xsi:type="dcterms:W3CDTF">2026-05-20T02:28:11Z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0x010100B776AB20B58D654AA06DE8E33932FA8A</vt:lpwstr>
  </property>
</Properties>
</file>